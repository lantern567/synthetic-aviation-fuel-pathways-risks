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c28db09cf14671" /><Relationship Type="http://schemas.openxmlformats.org/officeDocument/2006/relationships/extended-properties" Target="/docProps/app.xml" Id="Rd0ddac09f86b45bb" /><Relationship Type="http://schemas.openxmlformats.org/officeDocument/2006/relationships/officeDocument" Target="/ppt/presentation.xml" Id="R8c8f94142140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0d7eb73be4c97"/>
  </p:sldMasterIdLst>
  <p:notesMasterIdLst>
    <p:notesMasterId xmlns:r="http://schemas.openxmlformats.org/officeDocument/2006/relationships" r:id="Ra8716047550e42e6"/>
  </p:notesMasterIdLst>
  <p:sldIdLst>
    <p:sldId xmlns:r="http://schemas.openxmlformats.org/officeDocument/2006/relationships" id="256" r:id="R90e77edc6b6a476b"/>
  </p:sldIdLst>
  <p:sldSz cx="17145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2267fc312e4e9f" /><Relationship Type="http://schemas.openxmlformats.org/officeDocument/2006/relationships/slideMaster" Target="/ppt/slideMasters/slideMaster1.xml" Id="R5b70d7eb73be4c97" /><Relationship Type="http://schemas.openxmlformats.org/officeDocument/2006/relationships/notesMaster" Target="/ppt/notesMasters/notesMaster1.xml" Id="Ra8716047550e42e6" /><Relationship Type="http://schemas.openxmlformats.org/officeDocument/2006/relationships/presProps" Target="/ppt/presProps.xml" Id="R42672b7221dd4a59" /><Relationship Type="http://schemas.openxmlformats.org/officeDocument/2006/relationships/tableStyles" Target="/ppt/tableStyles.xml" Id="Re52477cbfeff4f96" /><Relationship Type="http://schemas.openxmlformats.org/officeDocument/2006/relationships/slide" Target="/ppt/slides/slide1.xml" Id="R90e77edc6b6a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de4505caf246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6a52553ca4911" /><Relationship Type="http://schemas.openxmlformats.org/officeDocument/2006/relationships/notesMaster" Target="/ppt/notesMasters/notesMaster1.xml" Id="Rd2f82c83ca71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Three-layer synthetic aviation-fuel supply-chain architecture. Source: the revised manuscript Methods and Supplementary Sections 3.5–3.11. Production and inventory use three-hour periods. Hydrogen and DAC CO₂ transport is balanced at both ends within each period, with common weekly route contracts. GTL-GH and GTL-BH natural-gas allocation is daily. Airport SynAF deliveries and demand are weekly. The illustrated modules are activated by configuration; only the fuel product reaches the airport inlet. Initial hydrogen inventory is zero in the recomputed configurations. Buffer capacities follow the active scenario constraints.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8d505cfa94f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67c304a5b49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5b7955ca44e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b36eb9aa342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a02c9adcd42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2fac1dc7e41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67E1B1-512E-4530-8AA3-83B56CFD4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3958167"/>
            <a:ext cx="1371600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902D1B-6B11-464B-9374-A22542970A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5762625"/>
            <a:ext cx="12001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2F2278-4AE6-44CA-B548-BF44C3900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365625"/>
            <a:ext cx="1371600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26D1E8-9B71-45F5-B0F7-630821B27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14917"/>
            <a:ext cx="15216188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680377-4334-406B-8E72-95B7F676C6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910417"/>
            <a:ext cx="15216188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6C957C-C8E1-4222-BD05-5A35E0C49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14917"/>
            <a:ext cx="15216188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9A506D-8C65-4A39-85B3-D1B16075D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910417"/>
            <a:ext cx="7072313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F538BC-DC59-4B12-833D-433AC4D440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2910417"/>
            <a:ext cx="7072313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C9883-921C-43BC-972F-5CCDE0615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14917"/>
            <a:ext cx="15216188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3F39C-3014-46C7-9062-DA03292BC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2910417"/>
            <a:ext cx="7072313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2e61c895c6495b" /><Relationship Type="http://schemas.openxmlformats.org/officeDocument/2006/relationships/slideLayout" Target="/ppt/slideLayouts/slideLayout1.xml" Id="R62e84b7fd21d4795" /><Relationship Type="http://schemas.openxmlformats.org/officeDocument/2006/relationships/slideLayout" Target="/ppt/slideLayouts/slideLayout2.xml" Id="Ra36dcc384cb94cc3" /><Relationship Type="http://schemas.openxmlformats.org/officeDocument/2006/relationships/slideLayout" Target="/ppt/slideLayouts/slideLayout3.xml" Id="Ra898d6d226514539" /><Relationship Type="http://schemas.openxmlformats.org/officeDocument/2006/relationships/slideLayout" Target="/ppt/slideLayouts/slideLayout4.xml" Id="Rf6b4c20d08554187" /><Relationship Type="http://schemas.openxmlformats.org/officeDocument/2006/relationships/slideLayout" Target="/ppt/slideLayouts/slideLayout5.xml" Id="R11df611da3724ee6" /><Relationship Type="http://schemas.openxmlformats.org/officeDocument/2006/relationships/slideLayout" Target="/ppt/slideLayouts/slideLayout6.xml" Id="Ref3aef6ae43848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84b7fd21d4795"/>
    <p:sldLayoutId xmlns:r="http://schemas.openxmlformats.org/officeDocument/2006/relationships" id="2147483650" r:id="Ra36dcc384cb94cc3"/>
    <p:sldLayoutId xmlns:r="http://schemas.openxmlformats.org/officeDocument/2006/relationships" id="2147483651" r:id="Ra898d6d226514539"/>
    <p:sldLayoutId xmlns:r="http://schemas.openxmlformats.org/officeDocument/2006/relationships" id="2147483652" r:id="Rf6b4c20d08554187"/>
    <p:sldLayoutId xmlns:r="http://schemas.openxmlformats.org/officeDocument/2006/relationships" id="2147483653" r:id="R11df611da3724ee6"/>
    <p:sldLayoutId xmlns:r="http://schemas.openxmlformats.org/officeDocument/2006/relationships" id="2147483654" r:id="Ref3aef6ae43848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966a208de4423" /><Relationship Type="http://schemas.openxmlformats.org/officeDocument/2006/relationships/notesSlide" Target="/ppt/notesSlides/notesSlide1.xml" Id="Ra28087b7a57a48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654AC22B-2231-45D8-9F24-F9ADA775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257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cxnSp>
        <p:nvCxnSpPr>
          <p:cNvPr id="5" name="Sources-rule">
            <a:extLst xmlns:a="http://schemas.openxmlformats.org/drawingml/2006/main">
              <a:ext uri="{FF2B5EF4-FFF2-40B4-BE49-F238E27FC236}">
                <a16:creationId xmlns:a16="http://schemas.microsoft.com/office/drawing/2014/main" id="{1E21EB47-BC2C-45A7-A2C7-6F96837020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" y="942975"/>
            <a:ext cx="3257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5DC"/>
            </a:solidFill>
            <a:prstDash val="solid"/>
            <a:tailEnd type="none" w="med" len="med"/>
          </a:ln>
        </p:spPr>
      </p:cxnSp>
      <p:sp>
        <p:nvSpPr>
          <p:cNvPr id="7" name="Feedstock transport-title">
            <a:extLst xmlns:a="http://schemas.openxmlformats.org/drawingml/2006/main">
              <a:ext uri="{FF2B5EF4-FFF2-40B4-BE49-F238E27FC236}">
                <a16:creationId xmlns:a16="http://schemas.microsoft.com/office/drawing/2014/main" id="{5C29258E-2DE4-4FAE-83E2-B0FB24A9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720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Feedstock transport</a:t>
            </a:r>
          </a:p>
        </p:txBody>
      </p:sp>
      <p:cxnSp>
        <p:nvCxnSpPr>
          <p:cNvPr id="8" name="Feedstock transport-rule">
            <a:extLst xmlns:a="http://schemas.openxmlformats.org/drawingml/2006/main">
              <a:ext uri="{FF2B5EF4-FFF2-40B4-BE49-F238E27FC236}">
                <a16:creationId xmlns:a16="http://schemas.microsoft.com/office/drawing/2014/main" id="{7C722C57-2A34-4E2D-9A12-0400D8E7F0C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9429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5DC"/>
            </a:solidFill>
            <a:prstDash val="solid"/>
            <a:tailEnd type="none" w="med" len="med"/>
          </a:ln>
        </p:spPr>
      </p:cxnSp>
      <p:sp>
        <p:nvSpPr>
          <p:cNvPr id="10" name="Fuel synthesis-title">
            <a:extLst xmlns:a="http://schemas.openxmlformats.org/drawingml/2006/main">
              <a:ext uri="{FF2B5EF4-FFF2-40B4-BE49-F238E27FC236}">
                <a16:creationId xmlns:a16="http://schemas.microsoft.com/office/drawing/2014/main" id="{76FFF77B-9443-483B-A6E2-89214DF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Fuel synthesis</a:t>
            </a:r>
          </a:p>
        </p:txBody>
      </p:sp>
      <p:cxnSp>
        <p:nvCxnSpPr>
          <p:cNvPr id="11" name="Fuel synthesis-rule">
            <a:extLst xmlns:a="http://schemas.openxmlformats.org/drawingml/2006/main">
              <a:ext uri="{FF2B5EF4-FFF2-40B4-BE49-F238E27FC236}">
                <a16:creationId xmlns:a16="http://schemas.microsoft.com/office/drawing/2014/main" id="{40DCA3D1-241C-4D47-A981-5B8D2AF937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39000" y="942975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5DC"/>
            </a:solidFill>
            <a:prstDash val="solid"/>
            <a:tailEnd type="none" w="med" len="med"/>
          </a:ln>
        </p:spPr>
      </p:cxnSp>
      <p:sp>
        <p:nvSpPr>
          <p:cNvPr id="13" name="Fuel delivery-title">
            <a:extLst xmlns:a="http://schemas.openxmlformats.org/drawingml/2006/main">
              <a:ext uri="{FF2B5EF4-FFF2-40B4-BE49-F238E27FC236}">
                <a16:creationId xmlns:a16="http://schemas.microsoft.com/office/drawing/2014/main" id="{2CCD2133-5467-42C2-93CD-A1EAD18D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Fuel delivery</a:t>
            </a:r>
          </a:p>
        </p:txBody>
      </p:sp>
      <p:cxnSp>
        <p:nvCxnSpPr>
          <p:cNvPr id="14" name="Fuel delivery-rule">
            <a:extLst xmlns:a="http://schemas.openxmlformats.org/drawingml/2006/main">
              <a:ext uri="{FF2B5EF4-FFF2-40B4-BE49-F238E27FC236}">
                <a16:creationId xmlns:a16="http://schemas.microsoft.com/office/drawing/2014/main" id="{64236510-5D7D-4708-8D2F-396E3D1152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192000" y="9429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5DC"/>
            </a:solidFill>
            <a:prstDash val="solid"/>
            <a:tailEnd type="none" w="med" len="med"/>
          </a:ln>
        </p:spPr>
      </p:cxnSp>
      <p:sp>
        <p:nvSpPr>
          <p:cNvPr id="16" name="Airports-title">
            <a:extLst xmlns:a="http://schemas.openxmlformats.org/drawingml/2006/main">
              <a:ext uri="{FF2B5EF4-FFF2-40B4-BE49-F238E27FC236}">
                <a16:creationId xmlns:a16="http://schemas.microsoft.com/office/drawing/2014/main" id="{6D07CFB8-ED59-4A72-9C87-19CF7D37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57200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Airports</a:t>
            </a:r>
          </a:p>
        </p:txBody>
      </p:sp>
      <p:cxnSp>
        <p:nvCxnSpPr>
          <p:cNvPr id="17" name="Airports-rule">
            <a:extLst xmlns:a="http://schemas.openxmlformats.org/drawingml/2006/main">
              <a:ext uri="{FF2B5EF4-FFF2-40B4-BE49-F238E27FC236}">
                <a16:creationId xmlns:a16="http://schemas.microsoft.com/office/drawing/2014/main" id="{3A1C6A3E-085C-4314-B72E-E7A7DC643C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954250" y="9429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AD5DC"/>
            </a:solidFill>
            <a:prstDash val="solid"/>
            <a:tailEnd type="none" w="med" len="med"/>
          </a:ln>
        </p:spPr>
      </p:cxnSp>
      <p:sp>
        <p:nvSpPr>
          <p:cNvPr id="18" name="Carbon sources region">
            <a:extLst xmlns:a="http://schemas.openxmlformats.org/drawingml/2006/main">
              <a:ext uri="{FF2B5EF4-FFF2-40B4-BE49-F238E27FC236}">
                <a16:creationId xmlns:a16="http://schemas.microsoft.com/office/drawing/2014/main" id="{3EC92817-73AD-43D0-8E00-F310747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32575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3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bon sources heading">
            <a:extLst xmlns:a="http://schemas.openxmlformats.org/drawingml/2006/main">
              <a:ext uri="{FF2B5EF4-FFF2-40B4-BE49-F238E27FC236}">
                <a16:creationId xmlns:a16="http://schemas.microsoft.com/office/drawing/2014/main" id="{BBE95FEA-ED25-454C-875F-D6D1BEB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37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737D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37D82"/>
                </a:solidFill>
                <a:latin typeface="Arial"/>
                <a:ea typeface="Arial"/>
                <a:cs typeface="Arial"/>
              </a:rPr>
              <a:t>Carbon sources</a:t>
            </a:r>
          </a:p>
        </p:txBody>
      </p:sp>
      <p:sp>
        <p:nvSpPr>
          <p:cNvPr id="20" name="coal-body">
            <a:extLst xmlns:a="http://schemas.openxmlformats.org/drawingml/2006/main">
              <a:ext uri="{FF2B5EF4-FFF2-40B4-BE49-F238E27FC236}">
                <a16:creationId xmlns:a16="http://schemas.microsoft.com/office/drawing/2014/main" id="{F823C39B-5F6E-4384-8FBA-B06718F4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514350" cy="428625"/>
          </a:xfrm>
          <a:custGeom xmlns:a="http://schemas.openxmlformats.org/drawingml/2006/main">
            <a:pathLst>
              <a:path w="514350" h="428625">
                <a:moveTo>
                  <a:pt x="0" y="419100"/>
                </a:moveTo>
                <a:lnTo>
                  <a:pt x="0" y="171450"/>
                </a:lnTo>
                <a:lnTo>
                  <a:pt x="142875" y="76200"/>
                </a:lnTo>
                <a:lnTo>
                  <a:pt x="142875" y="190500"/>
                </a:lnTo>
                <a:lnTo>
                  <a:pt x="295275" y="76200"/>
                </a:lnTo>
                <a:lnTo>
                  <a:pt x="295275" y="190500"/>
                </a:lnTo>
                <a:lnTo>
                  <a:pt x="504825" y="190500"/>
                </a:lnTo>
                <a:lnTo>
                  <a:pt x="504825" y="419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7D82"/>
            </a:solidFill>
            <a:prstDash val="solid"/>
          </a:ln>
        </p:spPr>
      </p:sp>
      <p:sp>
        <p:nvSpPr>
          <p:cNvPr id="21" name="coal-chimney">
            <a:extLst xmlns:a="http://schemas.openxmlformats.org/drawingml/2006/main">
              <a:ext uri="{FF2B5EF4-FFF2-40B4-BE49-F238E27FC236}">
                <a16:creationId xmlns:a16="http://schemas.microsoft.com/office/drawing/2014/main" id="{9C3DB1DC-29AC-462D-855F-9E231E29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66900"/>
            <a:ext cx="857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737D82"/>
            </a:solidFill>
            <a:prstDash val="solid"/>
          </a:ln>
        </p:spPr>
      </p:sp>
      <p:sp>
        <p:nvSpPr>
          <p:cNvPr id="22" name="coal-window-0">
            <a:extLst xmlns:a="http://schemas.openxmlformats.org/drawingml/2006/main">
              <a:ext uri="{FF2B5EF4-FFF2-40B4-BE49-F238E27FC236}">
                <a16:creationId xmlns:a16="http://schemas.microsoft.com/office/drawing/2014/main" id="{6450FDB0-E295-4E76-A7B5-7C2ADD9E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al-window-1">
            <a:extLst xmlns:a="http://schemas.openxmlformats.org/drawingml/2006/main">
              <a:ext uri="{FF2B5EF4-FFF2-40B4-BE49-F238E27FC236}">
                <a16:creationId xmlns:a16="http://schemas.microsoft.com/office/drawing/2014/main" id="{B3324D87-200C-4959-9E68-CF4AB3CD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62175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al-window-2">
            <a:extLst xmlns:a="http://schemas.openxmlformats.org/drawingml/2006/main">
              <a:ext uri="{FF2B5EF4-FFF2-40B4-BE49-F238E27FC236}">
                <a16:creationId xmlns:a16="http://schemas.microsoft.com/office/drawing/2014/main" id="{5E1FB496-A6AE-4053-8DEB-3F7D7EC0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62175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al-name">
            <a:extLst xmlns:a="http://schemas.openxmlformats.org/drawingml/2006/main">
              <a:ext uri="{FF2B5EF4-FFF2-40B4-BE49-F238E27FC236}">
                <a16:creationId xmlns:a16="http://schemas.microsoft.com/office/drawing/2014/main" id="{671C5353-9A26-4D4F-998F-5601435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952625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Coal chemical</a:t>
            </a:r>
          </a:p>
        </p:txBody>
      </p:sp>
      <p:sp>
        <p:nvSpPr>
          <p:cNvPr id="26" name="gas-column">
            <a:extLst xmlns:a="http://schemas.openxmlformats.org/drawingml/2006/main">
              <a:ext uri="{FF2B5EF4-FFF2-40B4-BE49-F238E27FC236}">
                <a16:creationId xmlns:a16="http://schemas.microsoft.com/office/drawing/2014/main" id="{7FBAF030-8817-4B9E-A808-67F72F1C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09550" cy="4667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7D82"/>
            </a:solidFill>
            <a:prstDash val="solid"/>
          </a:ln>
        </p:spPr>
      </p:sp>
      <p:cxnSp>
        <p:nvCxnSpPr>
          <p:cNvPr id="27" name="gas-tray-0">
            <a:extLst xmlns:a="http://schemas.openxmlformats.org/drawingml/2006/main">
              <a:ext uri="{FF2B5EF4-FFF2-40B4-BE49-F238E27FC236}">
                <a16:creationId xmlns:a16="http://schemas.microsoft.com/office/drawing/2014/main" id="{64DDE233-676F-43E9-B186-BE6FD5C28A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7250" y="26384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28" name="gas-tray-1">
            <a:extLst xmlns:a="http://schemas.openxmlformats.org/drawingml/2006/main">
              <a:ext uri="{FF2B5EF4-FFF2-40B4-BE49-F238E27FC236}">
                <a16:creationId xmlns:a16="http://schemas.microsoft.com/office/drawing/2014/main" id="{B0A966C8-534C-4A6E-802A-6088D32EA3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7250" y="27432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29" name="gas-tray-2">
            <a:extLst xmlns:a="http://schemas.openxmlformats.org/drawingml/2006/main">
              <a:ext uri="{FF2B5EF4-FFF2-40B4-BE49-F238E27FC236}">
                <a16:creationId xmlns:a16="http://schemas.microsoft.com/office/drawing/2014/main" id="{0AEB9DE6-0A40-4095-8F30-4701501A20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7250" y="28479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30" name="gas-base">
            <a:extLst xmlns:a="http://schemas.openxmlformats.org/drawingml/2006/main">
              <a:ext uri="{FF2B5EF4-FFF2-40B4-BE49-F238E27FC236}">
                <a16:creationId xmlns:a16="http://schemas.microsoft.com/office/drawing/2014/main" id="{44AB2713-1E0F-4B5D-B7BC-49FEC9F69C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2475" y="3009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31" name="gas-feed-0">
            <a:extLst xmlns:a="http://schemas.openxmlformats.org/drawingml/2006/main">
              <a:ext uri="{FF2B5EF4-FFF2-40B4-BE49-F238E27FC236}">
                <a16:creationId xmlns:a16="http://schemas.microsoft.com/office/drawing/2014/main" id="{8EF56BB4-FCA0-4AFC-A34C-9B70271A4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6800" y="26955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32" name="gas-feed-1">
            <a:extLst xmlns:a="http://schemas.openxmlformats.org/drawingml/2006/main">
              <a:ext uri="{FF2B5EF4-FFF2-40B4-BE49-F238E27FC236}">
                <a16:creationId xmlns:a16="http://schemas.microsoft.com/office/drawing/2014/main" id="{E3847341-9D92-4053-B221-B67C1D0B6D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26955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37D82"/>
            </a:solidFill>
            <a:prstDash val="solid"/>
            <a:tailEnd type="none" w="med" len="med"/>
          </a:ln>
        </p:spPr>
      </p:cxnSp>
      <p:sp>
        <p:nvSpPr>
          <p:cNvPr id="33" name="gas-name">
            <a:extLst xmlns:a="http://schemas.openxmlformats.org/drawingml/2006/main">
              <a:ext uri="{FF2B5EF4-FFF2-40B4-BE49-F238E27FC236}">
                <a16:creationId xmlns:a16="http://schemas.microsoft.com/office/drawing/2014/main" id="{61149A91-A33C-4856-A088-EA2CBCE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Natural gas</a:t>
            </a:r>
          </a:p>
        </p:txBody>
      </p:sp>
      <p:sp>
        <p:nvSpPr>
          <p:cNvPr id="34" name="capture-body">
            <a:extLst xmlns:a="http://schemas.openxmlformats.org/drawingml/2006/main">
              <a:ext uri="{FF2B5EF4-FFF2-40B4-BE49-F238E27FC236}">
                <a16:creationId xmlns:a16="http://schemas.microsoft.com/office/drawing/2014/main" id="{D92D6531-3138-4FE3-84B6-15858268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14350" cy="428625"/>
          </a:xfrm>
          <a:custGeom xmlns:a="http://schemas.openxmlformats.org/drawingml/2006/main">
            <a:pathLst>
              <a:path w="514350" h="428625">
                <a:moveTo>
                  <a:pt x="0" y="419100"/>
                </a:moveTo>
                <a:lnTo>
                  <a:pt x="0" y="171450"/>
                </a:lnTo>
                <a:lnTo>
                  <a:pt x="142875" y="76200"/>
                </a:lnTo>
                <a:lnTo>
                  <a:pt x="142875" y="190500"/>
                </a:lnTo>
                <a:lnTo>
                  <a:pt x="295275" y="76200"/>
                </a:lnTo>
                <a:lnTo>
                  <a:pt x="295275" y="190500"/>
                </a:lnTo>
                <a:lnTo>
                  <a:pt x="504825" y="190500"/>
                </a:lnTo>
                <a:lnTo>
                  <a:pt x="504825" y="419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7D82"/>
            </a:solidFill>
            <a:prstDash val="solid"/>
          </a:ln>
        </p:spPr>
      </p:sp>
      <p:sp>
        <p:nvSpPr>
          <p:cNvPr id="35" name="capture-chimney">
            <a:extLst xmlns:a="http://schemas.openxmlformats.org/drawingml/2006/main">
              <a:ext uri="{FF2B5EF4-FFF2-40B4-BE49-F238E27FC236}">
                <a16:creationId xmlns:a16="http://schemas.microsoft.com/office/drawing/2014/main" id="{364C5D6D-5EC1-4901-B3F1-EB65DE2D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43250"/>
            <a:ext cx="857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737D82"/>
            </a:solidFill>
            <a:prstDash val="solid"/>
          </a:ln>
        </p:spPr>
      </p:sp>
      <p:sp>
        <p:nvSpPr>
          <p:cNvPr id="36" name="capture-window-0">
            <a:extLst xmlns:a="http://schemas.openxmlformats.org/drawingml/2006/main">
              <a:ext uri="{FF2B5EF4-FFF2-40B4-BE49-F238E27FC236}">
                <a16:creationId xmlns:a16="http://schemas.microsoft.com/office/drawing/2014/main" id="{7FF3246B-23A2-4217-AB06-F86FCDF0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pture-window-1">
            <a:extLst xmlns:a="http://schemas.openxmlformats.org/drawingml/2006/main">
              <a:ext uri="{FF2B5EF4-FFF2-40B4-BE49-F238E27FC236}">
                <a16:creationId xmlns:a16="http://schemas.microsoft.com/office/drawing/2014/main" id="{21371614-D4C2-43B1-9E02-5E7C40F0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38525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pture-window-2">
            <a:extLst xmlns:a="http://schemas.openxmlformats.org/drawingml/2006/main">
              <a:ext uri="{FF2B5EF4-FFF2-40B4-BE49-F238E27FC236}">
                <a16:creationId xmlns:a16="http://schemas.microsoft.com/office/drawing/2014/main" id="{06C828B1-8F47-4081-9B01-FCEED72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38525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D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apture-name">
            <a:extLst xmlns:a="http://schemas.openxmlformats.org/drawingml/2006/main">
              <a:ext uri="{FF2B5EF4-FFF2-40B4-BE49-F238E27FC236}">
                <a16:creationId xmlns:a16="http://schemas.microsoft.com/office/drawing/2014/main" id="{003DF197-D8DA-4D79-92F5-65A50BF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28975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Industrial capture</a:t>
            </a:r>
          </a:p>
        </p:txBody>
      </p:sp>
      <p:sp>
        <p:nvSpPr>
          <p:cNvPr id="40" name="dac-frame">
            <a:extLst xmlns:a="http://schemas.openxmlformats.org/drawingml/2006/main">
              <a:ext uri="{FF2B5EF4-FFF2-40B4-BE49-F238E27FC236}">
                <a16:creationId xmlns:a16="http://schemas.microsoft.com/office/drawing/2014/main" id="{D8D4DE3F-718E-445F-8E01-19269066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4095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7D82"/>
            </a:solidFill>
            <a:prstDash val="solid"/>
          </a:ln>
        </p:spPr>
      </p:sp>
      <p:sp>
        <p:nvSpPr>
          <p:cNvPr id="41" name="dac-fan">
            <a:extLst xmlns:a="http://schemas.openxmlformats.org/drawingml/2006/main">
              <a:ext uri="{FF2B5EF4-FFF2-40B4-BE49-F238E27FC236}">
                <a16:creationId xmlns:a16="http://schemas.microsoft.com/office/drawing/2014/main" id="{D9538FC6-E3B1-4072-AE50-96A95D5B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95275" cy="2952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737D82"/>
            </a:solidFill>
            <a:prstDash val="solid"/>
          </a:ln>
        </p:spPr>
      </p:sp>
      <p:cxnSp>
        <p:nvCxnSpPr>
          <p:cNvPr id="42" name="dac-blade-0">
            <a:extLst xmlns:a="http://schemas.openxmlformats.org/drawingml/2006/main">
              <a:ext uri="{FF2B5EF4-FFF2-40B4-BE49-F238E27FC236}">
                <a16:creationId xmlns:a16="http://schemas.microsoft.com/office/drawing/2014/main" id="{C5A2CAB4-CB56-4F8C-B5B9-605B7184F9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5838" y="4005263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43" name="dac-blade-1">
            <a:extLst xmlns:a="http://schemas.openxmlformats.org/drawingml/2006/main">
              <a:ext uri="{FF2B5EF4-FFF2-40B4-BE49-F238E27FC236}">
                <a16:creationId xmlns:a16="http://schemas.microsoft.com/office/drawing/2014/main" id="{A6BBDDBB-A10F-4F57-89AC-84002677448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28688" y="4005263"/>
            <a:ext cx="57150" cy="98987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44" name="dac-blade-2">
            <a:extLst xmlns:a="http://schemas.openxmlformats.org/drawingml/2006/main">
              <a:ext uri="{FF2B5EF4-FFF2-40B4-BE49-F238E27FC236}">
                <a16:creationId xmlns:a16="http://schemas.microsoft.com/office/drawing/2014/main" id="{68DBA618-6F85-4670-A1D6-59AC958EDBAD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928688" y="3906276"/>
            <a:ext cx="57150" cy="98987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45" name="dac-leg1">
            <a:extLst xmlns:a="http://schemas.openxmlformats.org/drawingml/2006/main">
              <a:ext uri="{FF2B5EF4-FFF2-40B4-BE49-F238E27FC236}">
                <a16:creationId xmlns:a16="http://schemas.microsoft.com/office/drawing/2014/main" id="{687DA20F-7290-4191-9286-A57AF79FE2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8200" y="426720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46" name="dac-leg2">
            <a:extLst xmlns:a="http://schemas.openxmlformats.org/drawingml/2006/main">
              <a:ext uri="{FF2B5EF4-FFF2-40B4-BE49-F238E27FC236}">
                <a16:creationId xmlns:a16="http://schemas.microsoft.com/office/drawing/2014/main" id="{01E33669-D7F0-4C9B-8CC5-196F1AADD4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3950" y="4267200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7D82"/>
            </a:solidFill>
            <a:prstDash val="solid"/>
            <a:tailEnd type="none" w="med" len="med"/>
          </a:ln>
        </p:spPr>
      </p:cxnSp>
      <p:sp>
        <p:nvSpPr>
          <p:cNvPr id="47" name="dac-name">
            <a:extLst xmlns:a="http://schemas.openxmlformats.org/drawingml/2006/main">
              <a:ext uri="{FF2B5EF4-FFF2-40B4-BE49-F238E27FC236}">
                <a16:creationId xmlns:a16="http://schemas.microsoft.com/office/drawing/2014/main" id="{0D55CF5B-C56B-469A-A994-29D53F8A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67150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Direct air capture</a:t>
            </a:r>
          </a:p>
        </p:txBody>
      </p:sp>
      <p:sp>
        <p:nvSpPr>
          <p:cNvPr id="48" name="Hydrogen sources region">
            <a:extLst xmlns:a="http://schemas.openxmlformats.org/drawingml/2006/main">
              <a:ext uri="{FF2B5EF4-FFF2-40B4-BE49-F238E27FC236}">
                <a16:creationId xmlns:a16="http://schemas.microsoft.com/office/drawing/2014/main" id="{970BA548-B205-4840-AF5D-5E55B315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3257550" cy="25431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3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ydrogen sources heading">
            <a:extLst xmlns:a="http://schemas.openxmlformats.org/drawingml/2006/main">
              <a:ext uri="{FF2B5EF4-FFF2-40B4-BE49-F238E27FC236}">
                <a16:creationId xmlns:a16="http://schemas.microsoft.com/office/drawing/2014/main" id="{242A78A6-FAAC-41C6-BF60-0378634F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6392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1">
                <a:solidFill>
                  <a:srgbClr val="6392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39244"/>
                </a:solidFill>
                <a:latin typeface="Arial"/>
                <a:ea typeface="Arial"/>
                <a:cs typeface="Arial"/>
              </a:rPr>
              <a:t>Hydrogen sources</a:t>
            </a:r>
          </a:p>
        </p:txBody>
      </p:sp>
      <p:cxnSp>
        <p:nvCxnSpPr>
          <p:cNvPr id="50" name="renewable-mast">
            <a:extLst xmlns:a="http://schemas.openxmlformats.org/drawingml/2006/main">
              <a:ext uri="{FF2B5EF4-FFF2-40B4-BE49-F238E27FC236}">
                <a16:creationId xmlns:a16="http://schemas.microsoft.com/office/drawing/2014/main" id="{D8C36BE8-7C58-4B9F-9291-078A8E2505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6300" y="57912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51" name="renewable-blade-0">
            <a:extLst xmlns:a="http://schemas.openxmlformats.org/drawingml/2006/main">
              <a:ext uri="{FF2B5EF4-FFF2-40B4-BE49-F238E27FC236}">
                <a16:creationId xmlns:a16="http://schemas.microsoft.com/office/drawing/2014/main" id="{485484AB-76FA-43DD-A909-BC533FF9EA3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76300" y="562927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52" name="renewable-blade-1">
            <a:extLst xmlns:a="http://schemas.openxmlformats.org/drawingml/2006/main">
              <a:ext uri="{FF2B5EF4-FFF2-40B4-BE49-F238E27FC236}">
                <a16:creationId xmlns:a16="http://schemas.microsoft.com/office/drawing/2014/main" id="{10B37AB6-23A4-4D6F-B95E-B4742166A3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6300" y="5791200"/>
            <a:ext cx="140231" cy="80963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53" name="renewable-blade-2">
            <a:extLst xmlns:a="http://schemas.openxmlformats.org/drawingml/2006/main">
              <a:ext uri="{FF2B5EF4-FFF2-40B4-BE49-F238E27FC236}">
                <a16:creationId xmlns:a16="http://schemas.microsoft.com/office/drawing/2014/main" id="{7D8E3B57-5F0B-4600-B877-0D508F2C393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36069" y="5791200"/>
            <a:ext cx="140231" cy="80963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639244"/>
            </a:solidFill>
            <a:prstDash val="solid"/>
            <a:tailEnd type="none" w="med" len="med"/>
          </a:ln>
        </p:spPr>
      </p:cxnSp>
      <p:sp>
        <p:nvSpPr>
          <p:cNvPr id="54" name="renewable-panel">
            <a:extLst xmlns:a="http://schemas.openxmlformats.org/drawingml/2006/main">
              <a:ext uri="{FF2B5EF4-FFF2-40B4-BE49-F238E27FC236}">
                <a16:creationId xmlns:a16="http://schemas.microsoft.com/office/drawing/2014/main" id="{9572163D-5C9F-49B9-8476-2930CBDB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86450"/>
            <a:ext cx="333375" cy="209550"/>
          </a:xfrm>
          <a:custGeom xmlns:a="http://schemas.openxmlformats.org/drawingml/2006/main">
            <a:pathLst>
              <a:path w="333375" h="209550">
                <a:moveTo>
                  <a:pt x="0" y="0"/>
                </a:moveTo>
                <a:lnTo>
                  <a:pt x="285750" y="0"/>
                </a:lnTo>
                <a:lnTo>
                  <a:pt x="333375" y="209550"/>
                </a:lnTo>
                <a:lnTo>
                  <a:pt x="47625" y="209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39244"/>
            </a:solidFill>
            <a:prstDash val="solid"/>
          </a:ln>
        </p:spPr>
      </p:sp>
      <p:cxnSp>
        <p:nvCxnSpPr>
          <p:cNvPr id="55" name="renewable-panel-grid1">
            <a:extLst xmlns:a="http://schemas.openxmlformats.org/drawingml/2006/main">
              <a:ext uri="{FF2B5EF4-FFF2-40B4-BE49-F238E27FC236}">
                <a16:creationId xmlns:a16="http://schemas.microsoft.com/office/drawing/2014/main" id="{7E8E0595-06CD-483D-BA5A-5069ECA8A9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9175" y="59912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56" name="renewable-panel-grid2">
            <a:extLst xmlns:a="http://schemas.openxmlformats.org/drawingml/2006/main">
              <a:ext uri="{FF2B5EF4-FFF2-40B4-BE49-F238E27FC236}">
                <a16:creationId xmlns:a16="http://schemas.microsoft.com/office/drawing/2014/main" id="{89FC6466-90B4-4A37-9030-CEE6AC6FA0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33475" y="5886450"/>
            <a:ext cx="4762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39244"/>
            </a:solidFill>
            <a:prstDash val="solid"/>
            <a:tailEnd type="none" w="med" len="med"/>
          </a:ln>
        </p:spPr>
      </p:cxnSp>
      <p:sp>
        <p:nvSpPr>
          <p:cNvPr id="57" name="renewable-name">
            <a:extLst xmlns:a="http://schemas.openxmlformats.org/drawingml/2006/main">
              <a:ext uri="{FF2B5EF4-FFF2-40B4-BE49-F238E27FC236}">
                <a16:creationId xmlns:a16="http://schemas.microsoft.com/office/drawing/2014/main" id="{A8389BC5-A2B8-42C4-A35F-BB1CD4FF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6864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Green H₂</a:t>
            </a:r>
          </a:p>
        </p:txBody>
      </p:sp>
      <p:sp>
        <p:nvSpPr>
          <p:cNvPr id="59" name="byproduct-body">
            <a:extLst xmlns:a="http://schemas.openxmlformats.org/drawingml/2006/main">
              <a:ext uri="{FF2B5EF4-FFF2-40B4-BE49-F238E27FC236}">
                <a16:creationId xmlns:a16="http://schemas.microsoft.com/office/drawing/2014/main" id="{BA2AAC3B-F73D-490B-9AA2-B77E157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72225"/>
            <a:ext cx="514350" cy="428625"/>
          </a:xfrm>
          <a:custGeom xmlns:a="http://schemas.openxmlformats.org/drawingml/2006/main">
            <a:pathLst>
              <a:path w="514350" h="428625">
                <a:moveTo>
                  <a:pt x="0" y="419100"/>
                </a:moveTo>
                <a:lnTo>
                  <a:pt x="0" y="171450"/>
                </a:lnTo>
                <a:lnTo>
                  <a:pt x="142875" y="76200"/>
                </a:lnTo>
                <a:lnTo>
                  <a:pt x="142875" y="190500"/>
                </a:lnTo>
                <a:lnTo>
                  <a:pt x="295275" y="76200"/>
                </a:lnTo>
                <a:lnTo>
                  <a:pt x="295275" y="190500"/>
                </a:lnTo>
                <a:lnTo>
                  <a:pt x="504825" y="190500"/>
                </a:lnTo>
                <a:lnTo>
                  <a:pt x="504825" y="4191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39244"/>
            </a:solidFill>
            <a:prstDash val="solid"/>
          </a:ln>
        </p:spPr>
      </p:sp>
      <p:sp>
        <p:nvSpPr>
          <p:cNvPr id="60" name="byproduct-chimney">
            <a:extLst xmlns:a="http://schemas.openxmlformats.org/drawingml/2006/main">
              <a:ext uri="{FF2B5EF4-FFF2-40B4-BE49-F238E27FC236}">
                <a16:creationId xmlns:a16="http://schemas.microsoft.com/office/drawing/2014/main" id="{6A4F2CF6-8179-42CD-A2D1-A3AE285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53175"/>
            <a:ext cx="857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39244"/>
            </a:solidFill>
            <a:prstDash val="solid"/>
          </a:ln>
        </p:spPr>
      </p:sp>
      <p:sp>
        <p:nvSpPr>
          <p:cNvPr id="61" name="byproduct-window-0">
            <a:extLst xmlns:a="http://schemas.openxmlformats.org/drawingml/2006/main">
              <a:ext uri="{FF2B5EF4-FFF2-40B4-BE49-F238E27FC236}">
                <a16:creationId xmlns:a16="http://schemas.microsoft.com/office/drawing/2014/main" id="{945C8B3D-9F62-4FE2-84CE-FB69069D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48450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9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yproduct-window-1">
            <a:extLst xmlns:a="http://schemas.openxmlformats.org/drawingml/2006/main">
              <a:ext uri="{FF2B5EF4-FFF2-40B4-BE49-F238E27FC236}">
                <a16:creationId xmlns:a16="http://schemas.microsoft.com/office/drawing/2014/main" id="{F0EF1AA2-5475-446C-B767-39DABFB9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48450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9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yproduct-window-2">
            <a:extLst xmlns:a="http://schemas.openxmlformats.org/drawingml/2006/main">
              <a:ext uri="{FF2B5EF4-FFF2-40B4-BE49-F238E27FC236}">
                <a16:creationId xmlns:a16="http://schemas.microsoft.com/office/drawing/2014/main" id="{9064A661-C96B-4089-9466-78B88F7D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648450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9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yproduct-name">
            <a:extLst xmlns:a="http://schemas.openxmlformats.org/drawingml/2006/main">
              <a:ext uri="{FF2B5EF4-FFF2-40B4-BE49-F238E27FC236}">
                <a16:creationId xmlns:a16="http://schemas.microsoft.com/office/drawing/2014/main" id="{31C20201-DBE3-4E1E-A25C-FD15430D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410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By-product H₂</a:t>
            </a:r>
          </a:p>
        </p:txBody>
      </p:sp>
      <p:sp>
        <p:nvSpPr>
          <p:cNvPr id="65" name="grey-hydrogen-column">
            <a:extLst xmlns:a="http://schemas.openxmlformats.org/drawingml/2006/main">
              <a:ext uri="{FF2B5EF4-FFF2-40B4-BE49-F238E27FC236}">
                <a16:creationId xmlns:a16="http://schemas.microsoft.com/office/drawing/2014/main" id="{87CE1B43-161C-4327-8CE0-8FED172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972300"/>
            <a:ext cx="209550" cy="4667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39244"/>
            </a:solidFill>
            <a:prstDash val="solid"/>
          </a:ln>
        </p:spPr>
      </p:sp>
      <p:cxnSp>
        <p:nvCxnSpPr>
          <p:cNvPr id="66" name="grey-hydrogen-tray-0">
            <a:extLst xmlns:a="http://schemas.openxmlformats.org/drawingml/2006/main">
              <a:ext uri="{FF2B5EF4-FFF2-40B4-BE49-F238E27FC236}">
                <a16:creationId xmlns:a16="http://schemas.microsoft.com/office/drawing/2014/main" id="{3A431990-DDF1-4A63-A846-F18B171923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66775" y="708660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67" name="grey-hydrogen-tray-1">
            <a:extLst xmlns:a="http://schemas.openxmlformats.org/drawingml/2006/main">
              <a:ext uri="{FF2B5EF4-FFF2-40B4-BE49-F238E27FC236}">
                <a16:creationId xmlns:a16="http://schemas.microsoft.com/office/drawing/2014/main" id="{F0D9DB4E-7488-4A44-A96B-8085BA3660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66775" y="7191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68" name="grey-hydrogen-tray-2">
            <a:extLst xmlns:a="http://schemas.openxmlformats.org/drawingml/2006/main">
              <a:ext uri="{FF2B5EF4-FFF2-40B4-BE49-F238E27FC236}">
                <a16:creationId xmlns:a16="http://schemas.microsoft.com/office/drawing/2014/main" id="{1E33960B-427B-46BB-B8BD-90F04F969D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66775" y="72961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69" name="grey-hydrogen-base">
            <a:extLst xmlns:a="http://schemas.openxmlformats.org/drawingml/2006/main">
              <a:ext uri="{FF2B5EF4-FFF2-40B4-BE49-F238E27FC236}">
                <a16:creationId xmlns:a16="http://schemas.microsoft.com/office/drawing/2014/main" id="{121F728D-AC6A-4A97-8285-03E1A27EC8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74580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70" name="grey-hydrogen-feed-0">
            <a:extLst xmlns:a="http://schemas.openxmlformats.org/drawingml/2006/main">
              <a:ext uri="{FF2B5EF4-FFF2-40B4-BE49-F238E27FC236}">
                <a16:creationId xmlns:a16="http://schemas.microsoft.com/office/drawing/2014/main" id="{8E914629-2780-404A-A446-A08795297A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" y="71437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71" name="grey-hydrogen-feed-1">
            <a:extLst xmlns:a="http://schemas.openxmlformats.org/drawingml/2006/main">
              <a:ext uri="{FF2B5EF4-FFF2-40B4-BE49-F238E27FC236}">
                <a16:creationId xmlns:a16="http://schemas.microsoft.com/office/drawing/2014/main" id="{50CC507D-9283-41BE-A406-4ED1EAE2EA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71437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639244"/>
            </a:solidFill>
            <a:prstDash val="solid"/>
            <a:tailEnd type="none" w="med" len="med"/>
          </a:ln>
        </p:spPr>
      </p:cxnSp>
      <p:sp>
        <p:nvSpPr>
          <p:cNvPr id="72" name="grey-name">
            <a:extLst xmlns:a="http://schemas.openxmlformats.org/drawingml/2006/main">
              <a:ext uri="{FF2B5EF4-FFF2-40B4-BE49-F238E27FC236}">
                <a16:creationId xmlns:a16="http://schemas.microsoft.com/office/drawing/2014/main" id="{55330035-72E4-4A19-B1A8-9EA3ACA0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000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Grey H₂</a:t>
            </a:r>
          </a:p>
        </p:txBody>
      </p:sp>
      <p:sp>
        <p:nvSpPr>
          <p:cNvPr id="73" name="Carbon transport module">
            <a:extLst xmlns:a="http://schemas.openxmlformats.org/drawingml/2006/main">
              <a:ext uri="{FF2B5EF4-FFF2-40B4-BE49-F238E27FC236}">
                <a16:creationId xmlns:a16="http://schemas.microsoft.com/office/drawing/2014/main" id="{DB3095F9-5474-4B4F-93CF-9A17A8A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2476500" cy="2219325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7D82"/>
            </a:solidFill>
            <a:prstDash val="solid"/>
          </a:ln>
        </p:spPr>
      </p:sp>
      <p:sp>
        <p:nvSpPr>
          <p:cNvPr id="74" name="carbon-pipeline-body">
            <a:extLst xmlns:a="http://schemas.openxmlformats.org/drawingml/2006/main">
              <a:ext uri="{FF2B5EF4-FFF2-40B4-BE49-F238E27FC236}">
                <a16:creationId xmlns:a16="http://schemas.microsoft.com/office/drawing/2014/main" id="{58D26E06-B6E6-45F4-8914-D57F59C5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0275"/>
            <a:ext cx="11144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737D82"/>
            </a:solidFill>
            <a:prstDash val="solid"/>
          </a:ln>
        </p:spPr>
      </p:sp>
      <p:sp>
        <p:nvSpPr>
          <p:cNvPr id="75" name="carbon-pipeline-joint-0">
            <a:extLst xmlns:a="http://schemas.openxmlformats.org/drawingml/2006/main">
              <a:ext uri="{FF2B5EF4-FFF2-40B4-BE49-F238E27FC236}">
                <a16:creationId xmlns:a16="http://schemas.microsoft.com/office/drawing/2014/main" id="{7BE4BDC2-28D2-4474-B9B6-1F296823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2175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737D82"/>
            </a:solidFill>
            <a:prstDash val="solid"/>
          </a:ln>
        </p:spPr>
      </p:sp>
      <p:sp>
        <p:nvSpPr>
          <p:cNvPr id="76" name="carbon-pipeline-joint-1">
            <a:extLst xmlns:a="http://schemas.openxmlformats.org/drawingml/2006/main">
              <a:ext uri="{FF2B5EF4-FFF2-40B4-BE49-F238E27FC236}">
                <a16:creationId xmlns:a16="http://schemas.microsoft.com/office/drawing/2014/main" id="{F475BDD2-EDA1-49D8-A04B-B0F35CA1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63" y="2162175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737D82"/>
            </a:solidFill>
            <a:prstDash val="solid"/>
          </a:ln>
        </p:spPr>
      </p:sp>
      <p:sp>
        <p:nvSpPr>
          <p:cNvPr id="77" name="carbon-pipeline-joint-2">
            <a:extLst xmlns:a="http://schemas.openxmlformats.org/drawingml/2006/main">
              <a:ext uri="{FF2B5EF4-FFF2-40B4-BE49-F238E27FC236}">
                <a16:creationId xmlns:a16="http://schemas.microsoft.com/office/drawing/2014/main" id="{13BE3574-055E-49C4-B557-83B80962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62175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737D82"/>
            </a:solidFill>
            <a:prstDash val="solid"/>
          </a:ln>
        </p:spPr>
      </p:sp>
      <p:sp>
        <p:nvSpPr>
          <p:cNvPr id="78" name="carbon-buffer-tank">
            <a:extLst xmlns:a="http://schemas.openxmlformats.org/drawingml/2006/main">
              <a:ext uri="{FF2B5EF4-FFF2-40B4-BE49-F238E27FC236}">
                <a16:creationId xmlns:a16="http://schemas.microsoft.com/office/drawing/2014/main" id="{14E5201A-9DC0-4553-BC3B-7B713E58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38350"/>
            <a:ext cx="590550" cy="5524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37D82"/>
            </a:solidFill>
            <a:prstDash val="dash"/>
          </a:ln>
        </p:spPr>
      </p:sp>
      <p:sp>
        <p:nvSpPr>
          <p:cNvPr id="79" name="carbon-buffer-label">
            <a:extLst xmlns:a="http://schemas.openxmlformats.org/drawingml/2006/main">
              <a:ext uri="{FF2B5EF4-FFF2-40B4-BE49-F238E27FC236}">
                <a16:creationId xmlns:a16="http://schemas.microsoft.com/office/drawing/2014/main" id="{448C1217-1C04-406C-B3A2-876059F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610"/>
            <a:ext cx="533400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37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737D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37D82"/>
                </a:solidFill>
                <a:latin typeface="Arial"/>
                <a:ea typeface="Arial"/>
                <a:cs typeface="Arial"/>
              </a:rPr>
              <a:t>CO₂</a:t>
            </a:r>
          </a:p>
        </p:txBody>
      </p:sp>
      <p:cxnSp>
        <p:nvCxnSpPr>
          <p:cNvPr id="80" name="carbon-buffer-foot1">
            <a:extLst xmlns:a="http://schemas.openxmlformats.org/drawingml/2006/main">
              <a:ext uri="{FF2B5EF4-FFF2-40B4-BE49-F238E27FC236}">
                <a16:creationId xmlns:a16="http://schemas.microsoft.com/office/drawing/2014/main" id="{27926943-B85F-4057-9D6F-97FD86BA78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23585" y="259080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81" name="carbon-buffer-foot2">
            <a:extLst xmlns:a="http://schemas.openxmlformats.org/drawingml/2006/main">
              <a:ext uri="{FF2B5EF4-FFF2-40B4-BE49-F238E27FC236}">
                <a16:creationId xmlns:a16="http://schemas.microsoft.com/office/drawing/2014/main" id="{F77000FB-3004-430A-A382-DDEF479C56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77915" y="259080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37D82"/>
            </a:solidFill>
            <a:prstDash val="solid"/>
            <a:tailEnd type="none" w="med" len="med"/>
          </a:ln>
        </p:spPr>
      </p:cxnSp>
      <p:sp>
        <p:nvSpPr>
          <p:cNvPr id="82" name="carbon-transport-label">
            <a:extLst xmlns:a="http://schemas.openxmlformats.org/drawingml/2006/main">
              <a:ext uri="{FF2B5EF4-FFF2-40B4-BE49-F238E27FC236}">
                <a16:creationId xmlns:a16="http://schemas.microsoft.com/office/drawing/2014/main" id="{DC9863EC-3217-4E44-96B0-5E63AA60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7D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737D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37D82"/>
                </a:solidFill>
                <a:latin typeface="Arial"/>
                <a:ea typeface="Arial"/>
                <a:cs typeface="Arial"/>
              </a:rPr>
              <a:t>Carbon supply</a:t>
            </a:r>
          </a:p>
        </p:txBody>
      </p:sp>
      <p:sp>
        <p:nvSpPr>
          <p:cNvPr id="84" name="Hydrogen transport module">
            <a:extLst xmlns:a="http://schemas.openxmlformats.org/drawingml/2006/main">
              <a:ext uri="{FF2B5EF4-FFF2-40B4-BE49-F238E27FC236}">
                <a16:creationId xmlns:a16="http://schemas.microsoft.com/office/drawing/2014/main" id="{84482770-BAF7-498E-A665-01EB5395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14950"/>
            <a:ext cx="2476500" cy="2085975"/>
          </a:xfrm>
          <a:prstGeom xmlns:a="http://schemas.openxmlformats.org/drawingml/2006/main" prst="roundRect">
            <a:avLst>
              <a:gd name="adj" fmla="val 3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9244"/>
            </a:solidFill>
            <a:prstDash val="solid"/>
          </a:ln>
        </p:spPr>
      </p:sp>
      <p:sp>
        <p:nvSpPr>
          <p:cNvPr id="85" name="hydrogen-pipeline-body">
            <a:extLst xmlns:a="http://schemas.openxmlformats.org/drawingml/2006/main">
              <a:ext uri="{FF2B5EF4-FFF2-40B4-BE49-F238E27FC236}">
                <a16:creationId xmlns:a16="http://schemas.microsoft.com/office/drawing/2014/main" id="{8D9106DE-6D50-4023-A165-1BAFD59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86425"/>
            <a:ext cx="11144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639244"/>
            </a:solidFill>
            <a:prstDash val="solid"/>
          </a:ln>
        </p:spPr>
      </p:sp>
      <p:sp>
        <p:nvSpPr>
          <p:cNvPr id="86" name="hydrogen-pipeline-joint-0">
            <a:extLst xmlns:a="http://schemas.openxmlformats.org/drawingml/2006/main">
              <a:ext uri="{FF2B5EF4-FFF2-40B4-BE49-F238E27FC236}">
                <a16:creationId xmlns:a16="http://schemas.microsoft.com/office/drawing/2014/main" id="{2671F357-A1B4-43A2-B537-3D261740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48325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639244"/>
            </a:solidFill>
            <a:prstDash val="solid"/>
          </a:ln>
        </p:spPr>
      </p:sp>
      <p:sp>
        <p:nvSpPr>
          <p:cNvPr id="87" name="hydrogen-pipeline-joint-1">
            <a:extLst xmlns:a="http://schemas.openxmlformats.org/drawingml/2006/main">
              <a:ext uri="{FF2B5EF4-FFF2-40B4-BE49-F238E27FC236}">
                <a16:creationId xmlns:a16="http://schemas.microsoft.com/office/drawing/2014/main" id="{A7F5C9F4-768F-439C-A685-66E50426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63" y="5648325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639244"/>
            </a:solidFill>
            <a:prstDash val="solid"/>
          </a:ln>
        </p:spPr>
      </p:sp>
      <p:sp>
        <p:nvSpPr>
          <p:cNvPr id="88" name="hydrogen-pipeline-joint-2">
            <a:extLst xmlns:a="http://schemas.openxmlformats.org/drawingml/2006/main">
              <a:ext uri="{FF2B5EF4-FFF2-40B4-BE49-F238E27FC236}">
                <a16:creationId xmlns:a16="http://schemas.microsoft.com/office/drawing/2014/main" id="{303FCC6E-698D-462F-A905-8B92CC87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48325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639244"/>
            </a:solidFill>
            <a:prstDash val="solid"/>
          </a:ln>
        </p:spPr>
      </p:sp>
      <p:sp>
        <p:nvSpPr>
          <p:cNvPr id="89" name="hydrogen-buffer-tank">
            <a:extLst xmlns:a="http://schemas.openxmlformats.org/drawingml/2006/main">
              <a:ext uri="{FF2B5EF4-FFF2-40B4-BE49-F238E27FC236}">
                <a16:creationId xmlns:a16="http://schemas.microsoft.com/office/drawing/2014/main" id="{6811FD0C-EBBA-4EFA-A6E0-98631921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524500"/>
            <a:ext cx="590550" cy="5524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639244"/>
            </a:solidFill>
            <a:prstDash val="dash"/>
          </a:ln>
        </p:spPr>
      </p:sp>
      <p:sp>
        <p:nvSpPr>
          <p:cNvPr id="90" name="hydrogen-buffer-label">
            <a:extLst xmlns:a="http://schemas.openxmlformats.org/drawingml/2006/main">
              <a:ext uri="{FF2B5EF4-FFF2-40B4-BE49-F238E27FC236}">
                <a16:creationId xmlns:a16="http://schemas.microsoft.com/office/drawing/2014/main" id="{D453D9BF-6CFD-4C28-AFE3-0DA9BE8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95760"/>
            <a:ext cx="533400" cy="209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6392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639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9244"/>
                </a:solidFill>
                <a:latin typeface="Arial"/>
                <a:ea typeface="Arial"/>
                <a:cs typeface="Arial"/>
              </a:rPr>
              <a:t>H₂</a:t>
            </a:r>
          </a:p>
        </p:txBody>
      </p:sp>
      <p:cxnSp>
        <p:nvCxnSpPr>
          <p:cNvPr id="91" name="hydrogen-buffer-foot1">
            <a:extLst xmlns:a="http://schemas.openxmlformats.org/drawingml/2006/main">
              <a:ext uri="{FF2B5EF4-FFF2-40B4-BE49-F238E27FC236}">
                <a16:creationId xmlns:a16="http://schemas.microsoft.com/office/drawing/2014/main" id="{E6AD43DB-4E67-4FAB-B9A0-441CF0C994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23585" y="607695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92" name="hydrogen-buffer-foot2">
            <a:extLst xmlns:a="http://schemas.openxmlformats.org/drawingml/2006/main">
              <a:ext uri="{FF2B5EF4-FFF2-40B4-BE49-F238E27FC236}">
                <a16:creationId xmlns:a16="http://schemas.microsoft.com/office/drawing/2014/main" id="{CC493B32-85B4-4D29-84B6-6FC84767A1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77915" y="607695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39244"/>
            </a:solidFill>
            <a:prstDash val="solid"/>
            <a:tailEnd type="none" w="med" len="med"/>
          </a:ln>
        </p:spPr>
      </p:cxnSp>
      <p:sp>
        <p:nvSpPr>
          <p:cNvPr id="93" name="hydrogen-transport-label">
            <a:extLst xmlns:a="http://schemas.openxmlformats.org/drawingml/2006/main">
              <a:ext uri="{FF2B5EF4-FFF2-40B4-BE49-F238E27FC236}">
                <a16:creationId xmlns:a16="http://schemas.microsoft.com/office/drawing/2014/main" id="{8DA889A0-B4BD-47DB-9FBD-C0A30E6D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191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6392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6392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39244"/>
                </a:solidFill>
                <a:latin typeface="Arial"/>
                <a:ea typeface="Arial"/>
                <a:cs typeface="Arial"/>
              </a:rPr>
              <a:t>H₂ pipeline</a:t>
            </a:r>
          </a:p>
        </p:txBody>
      </p:sp>
      <p:cxnSp>
        <p:nvCxnSpPr>
          <p:cNvPr id="95" name="Carbon sources to transport-0">
            <a:extLst xmlns:a="http://schemas.openxmlformats.org/drawingml/2006/main">
              <a:ext uri="{FF2B5EF4-FFF2-40B4-BE49-F238E27FC236}">
                <a16:creationId xmlns:a16="http://schemas.microsoft.com/office/drawing/2014/main" id="{407B451C-DC4E-47A9-B924-1B91BDFA92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14750" y="29622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737D82"/>
            </a:solidFill>
            <a:prstDash val="solid"/>
            <a:tailEnd type="triangle" w="med" len="med"/>
          </a:ln>
        </p:spPr>
      </p:cxnSp>
      <p:cxnSp>
        <p:nvCxnSpPr>
          <p:cNvPr id="96" name="Hydrogen sources to transport-0">
            <a:extLst xmlns:a="http://schemas.openxmlformats.org/drawingml/2006/main">
              <a:ext uri="{FF2B5EF4-FFF2-40B4-BE49-F238E27FC236}">
                <a16:creationId xmlns:a16="http://schemas.microsoft.com/office/drawing/2014/main" id="{2556013E-0EF3-4CDF-91BF-0993319956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14750" y="63531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639244"/>
            </a:solidFill>
            <a:prstDash val="solid"/>
            <a:tailEnd type="triangle" w="med" len="med"/>
          </a:ln>
        </p:spPr>
      </p:cxnSp>
      <p:cxnSp>
        <p:nvCxnSpPr>
          <p:cNvPr id="97" name="Carbon transport to conversion-0">
            <a:extLst xmlns:a="http://schemas.openxmlformats.org/drawingml/2006/main">
              <a:ext uri="{FF2B5EF4-FFF2-40B4-BE49-F238E27FC236}">
                <a16:creationId xmlns:a16="http://schemas.microsoft.com/office/drawing/2014/main" id="{69C9BD2B-D9DF-4861-9A45-C0B7D88090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19875" y="29622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98" name="Carbon transport to conversion-1">
            <a:extLst xmlns:a="http://schemas.openxmlformats.org/drawingml/2006/main">
              <a:ext uri="{FF2B5EF4-FFF2-40B4-BE49-F238E27FC236}">
                <a16:creationId xmlns:a16="http://schemas.microsoft.com/office/drawing/2014/main" id="{C05E8148-EF65-4FFF-BA0A-B6F66B7BB09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19900" y="1838325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737D82"/>
            </a:solidFill>
            <a:prstDash val="solid"/>
            <a:tailEnd type="none" w="med" len="med"/>
          </a:ln>
        </p:spPr>
      </p:cxnSp>
      <p:cxnSp>
        <p:nvCxnSpPr>
          <p:cNvPr id="99" name="Carbon transport to conversion-2">
            <a:extLst xmlns:a="http://schemas.openxmlformats.org/drawingml/2006/main">
              <a:ext uri="{FF2B5EF4-FFF2-40B4-BE49-F238E27FC236}">
                <a16:creationId xmlns:a16="http://schemas.microsoft.com/office/drawing/2014/main" id="{429874E5-FDE0-4B0C-93B7-C31C8166AA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19900" y="18383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737D82"/>
            </a:solidFill>
            <a:prstDash val="solid"/>
            <a:tailEnd type="triangle" w="med" len="med"/>
          </a:ln>
        </p:spPr>
      </p:cxnSp>
      <p:cxnSp>
        <p:nvCxnSpPr>
          <p:cNvPr id="100" name="Hydrogen transport to conversion-0">
            <a:extLst xmlns:a="http://schemas.openxmlformats.org/drawingml/2006/main">
              <a:ext uri="{FF2B5EF4-FFF2-40B4-BE49-F238E27FC236}">
                <a16:creationId xmlns:a16="http://schemas.microsoft.com/office/drawing/2014/main" id="{87A96BBA-115F-44F5-A737-F50710D087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19875" y="63531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101" name="Hydrogen transport to conversion-1">
            <a:extLst xmlns:a="http://schemas.openxmlformats.org/drawingml/2006/main">
              <a:ext uri="{FF2B5EF4-FFF2-40B4-BE49-F238E27FC236}">
                <a16:creationId xmlns:a16="http://schemas.microsoft.com/office/drawing/2014/main" id="{B57C243B-9BDC-4631-8617-BAD3F93D146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010400" y="1990725"/>
            <a:ext cx="0" cy="436245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639244"/>
            </a:solidFill>
            <a:prstDash val="solid"/>
            <a:tailEnd type="none" w="med" len="med"/>
          </a:ln>
        </p:spPr>
      </p:cxnSp>
      <p:cxnSp>
        <p:nvCxnSpPr>
          <p:cNvPr id="102" name="Hydrogen transport to conversion-2">
            <a:extLst xmlns:a="http://schemas.openxmlformats.org/drawingml/2006/main">
              <a:ext uri="{FF2B5EF4-FFF2-40B4-BE49-F238E27FC236}">
                <a16:creationId xmlns:a16="http://schemas.microsoft.com/office/drawing/2014/main" id="{085BC926-83D4-4BF5-B35C-29EFBE4623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010400" y="19907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639244"/>
            </a:solidFill>
            <a:prstDash val="solid"/>
            <a:tailEnd type="triangle" w="med" len="med"/>
          </a:ln>
        </p:spPr>
      </p:cxnSp>
      <p:sp>
        <p:nvSpPr>
          <p:cNvPr id="103" name="Conversion envelope">
            <a:extLst xmlns:a="http://schemas.openxmlformats.org/drawingml/2006/main">
              <a:ext uri="{FF2B5EF4-FFF2-40B4-BE49-F238E27FC236}">
                <a16:creationId xmlns:a16="http://schemas.microsoft.com/office/drawing/2014/main" id="{F3EC1FA1-7418-4045-AEF6-CBBF843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28725"/>
            <a:ext cx="4095750" cy="62674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BCC8"/>
            </a:solidFill>
            <a:prstDash val="solid"/>
          </a:ln>
        </p:spPr>
      </p:sp>
      <p:sp>
        <p:nvSpPr>
          <p:cNvPr id="105" name="conversion-inputs">
            <a:extLst xmlns:a="http://schemas.openxmlformats.org/drawingml/2006/main">
              <a:ext uri="{FF2B5EF4-FFF2-40B4-BE49-F238E27FC236}">
                <a16:creationId xmlns:a16="http://schemas.microsoft.com/office/drawing/2014/main" id="{9B44D8D3-39FA-4BEE-A9F4-81DC36D2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76400"/>
            <a:ext cx="3705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8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 b="0">
                <a:solidFill>
                  <a:srgbClr val="586C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C79"/>
                </a:solidFill>
                <a:latin typeface="Arial"/>
                <a:ea typeface="Arial"/>
                <a:cs typeface="Arial"/>
              </a:rPr>
              <a:t>Carbon + H₂</a:t>
            </a:r>
          </a:p>
        </p:txBody>
      </p:sp>
      <p:sp>
        <p:nvSpPr>
          <p:cNvPr id="106" name="ft-route-title">
            <a:extLst xmlns:a="http://schemas.openxmlformats.org/drawingml/2006/main">
              <a:ext uri="{FF2B5EF4-FFF2-40B4-BE49-F238E27FC236}">
                <a16:creationId xmlns:a16="http://schemas.microsoft.com/office/drawing/2014/main" id="{3F442BDB-A66A-4376-A44B-FB8339B3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57400"/>
            <a:ext cx="3495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Fischer–Tropsch route</a:t>
            </a:r>
          </a:p>
        </p:txBody>
      </p:sp>
      <p:sp>
        <p:nvSpPr>
          <p:cNvPr id="107" name="FT-reactor-column">
            <a:extLst xmlns:a="http://schemas.openxmlformats.org/drawingml/2006/main">
              <a:ext uri="{FF2B5EF4-FFF2-40B4-BE49-F238E27FC236}">
                <a16:creationId xmlns:a16="http://schemas.microsoft.com/office/drawing/2014/main" id="{68D6968B-3AAF-4E85-B477-CC6EBB8E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"/>
            <a:ext cx="209550" cy="4667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17CB0"/>
            </a:solidFill>
            <a:prstDash val="solid"/>
          </a:ln>
        </p:spPr>
      </p:sp>
      <p:cxnSp>
        <p:nvCxnSpPr>
          <p:cNvPr id="108" name="FT-reactor-tray-0">
            <a:extLst xmlns:a="http://schemas.openxmlformats.org/drawingml/2006/main">
              <a:ext uri="{FF2B5EF4-FFF2-40B4-BE49-F238E27FC236}">
                <a16:creationId xmlns:a16="http://schemas.microsoft.com/office/drawing/2014/main" id="{6E59E8B1-47DA-4ECB-823C-A0944F99D2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809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09" name="FT-reactor-tray-1">
            <a:extLst xmlns:a="http://schemas.openxmlformats.org/drawingml/2006/main">
              <a:ext uri="{FF2B5EF4-FFF2-40B4-BE49-F238E27FC236}">
                <a16:creationId xmlns:a16="http://schemas.microsoft.com/office/drawing/2014/main" id="{FDD0C9AB-495A-4D10-9B43-855F909834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914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10" name="FT-reactor-tray-2">
            <a:extLst xmlns:a="http://schemas.openxmlformats.org/drawingml/2006/main">
              <a:ext uri="{FF2B5EF4-FFF2-40B4-BE49-F238E27FC236}">
                <a16:creationId xmlns:a16="http://schemas.microsoft.com/office/drawing/2014/main" id="{F40A4068-E60A-42CA-9508-969405A5B13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0194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11" name="FT-reactor-base">
            <a:extLst xmlns:a="http://schemas.openxmlformats.org/drawingml/2006/main">
              <a:ext uri="{FF2B5EF4-FFF2-40B4-BE49-F238E27FC236}">
                <a16:creationId xmlns:a16="http://schemas.microsoft.com/office/drawing/2014/main" id="{89687AEF-979F-47A2-AF47-8859B95F55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00975" y="31813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12" name="FT-reactor-feed-0">
            <a:extLst xmlns:a="http://schemas.openxmlformats.org/drawingml/2006/main">
              <a:ext uri="{FF2B5EF4-FFF2-40B4-BE49-F238E27FC236}">
                <a16:creationId xmlns:a16="http://schemas.microsoft.com/office/drawing/2014/main" id="{317FE10D-E832-449E-A9BA-36300AF69B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15300" y="28670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13" name="FT-reactor-feed-1">
            <a:extLst xmlns:a="http://schemas.openxmlformats.org/drawingml/2006/main">
              <a:ext uri="{FF2B5EF4-FFF2-40B4-BE49-F238E27FC236}">
                <a16:creationId xmlns:a16="http://schemas.microsoft.com/office/drawing/2014/main" id="{6B67A0A1-B8A8-476D-B267-0A032F58D41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29600" y="28670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7CB0"/>
            </a:solidFill>
            <a:prstDash val="solid"/>
            <a:tailEnd type="none" w="med" len="med"/>
          </a:ln>
        </p:spPr>
      </p:cxnSp>
      <p:sp>
        <p:nvSpPr>
          <p:cNvPr id="114" name="FT-synthesis">
            <a:extLst xmlns:a="http://schemas.openxmlformats.org/drawingml/2006/main">
              <a:ext uri="{FF2B5EF4-FFF2-40B4-BE49-F238E27FC236}">
                <a16:creationId xmlns:a16="http://schemas.microsoft.com/office/drawing/2014/main" id="{EC2C2527-7DAD-4877-9C03-2A784F79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67000"/>
            <a:ext cx="2038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FT synthesis</a:t>
            </a:r>
          </a:p>
        </p:txBody>
      </p:sp>
      <p:cxnSp>
        <p:nvCxnSpPr>
          <p:cNvPr id="115" name="FT product-0">
            <a:extLst xmlns:a="http://schemas.openxmlformats.org/drawingml/2006/main">
              <a:ext uri="{FF2B5EF4-FFF2-40B4-BE49-F238E27FC236}">
                <a16:creationId xmlns:a16="http://schemas.microsoft.com/office/drawing/2014/main" id="{7C76A98D-A878-45C6-99FA-0C69B3643B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20375" y="29527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triangle" w="med" len="med"/>
          </a:ln>
        </p:spPr>
      </p:cxnSp>
      <p:sp>
        <p:nvSpPr>
          <p:cNvPr id="116" name="FT-product-label">
            <a:extLst xmlns:a="http://schemas.openxmlformats.org/drawingml/2006/main">
              <a:ext uri="{FF2B5EF4-FFF2-40B4-BE49-F238E27FC236}">
                <a16:creationId xmlns:a16="http://schemas.microsoft.com/office/drawing/2014/main" id="{FB1F1C56-93AA-47BA-8CFA-1EE957C8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6003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317C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317C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7CB0"/>
                </a:solidFill>
                <a:latin typeface="Arial"/>
                <a:ea typeface="Arial"/>
                <a:cs typeface="Arial"/>
              </a:rPr>
              <a:t>SynAF</a:t>
            </a:r>
          </a:p>
        </p:txBody>
      </p:sp>
      <p:cxnSp>
        <p:nvCxnSpPr>
          <p:cNvPr id="117" name="route-divider">
            <a:extLst xmlns:a="http://schemas.openxmlformats.org/drawingml/2006/main">
              <a:ext uri="{FF2B5EF4-FFF2-40B4-BE49-F238E27FC236}">
                <a16:creationId xmlns:a16="http://schemas.microsoft.com/office/drawing/2014/main" id="{71D10F19-6318-4B69-B95A-7B31B6C013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86650" y="3695700"/>
            <a:ext cx="36099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CAD5DC"/>
            </a:solidFill>
            <a:prstDash val="solid"/>
            <a:tailEnd type="none" w="med" len="med"/>
          </a:ln>
        </p:spPr>
      </p:cxnSp>
      <p:sp>
        <p:nvSpPr>
          <p:cNvPr id="118" name="mtj-route-title">
            <a:extLst xmlns:a="http://schemas.openxmlformats.org/drawingml/2006/main">
              <a:ext uri="{FF2B5EF4-FFF2-40B4-BE49-F238E27FC236}">
                <a16:creationId xmlns:a16="http://schemas.microsoft.com/office/drawing/2014/main" id="{9CB28D4C-3246-4474-8139-21EB9317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90975"/>
            <a:ext cx="3495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7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Methanol-to-jet route</a:t>
            </a:r>
          </a:p>
        </p:txBody>
      </p:sp>
      <p:sp>
        <p:nvSpPr>
          <p:cNvPr id="119" name="methanol-production">
            <a:extLst xmlns:a="http://schemas.openxmlformats.org/drawingml/2006/main">
              <a:ext uri="{FF2B5EF4-FFF2-40B4-BE49-F238E27FC236}">
                <a16:creationId xmlns:a16="http://schemas.microsoft.com/office/drawing/2014/main" id="{D7085C2B-6E4A-40C7-88B6-AC108DD7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0175"/>
            <a:ext cx="1362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Methanol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120" name="methanol-buffer-tank">
            <a:extLst xmlns:a="http://schemas.openxmlformats.org/drawingml/2006/main">
              <a:ext uri="{FF2B5EF4-FFF2-40B4-BE49-F238E27FC236}">
                <a16:creationId xmlns:a16="http://schemas.microsoft.com/office/drawing/2014/main" id="{43F8BF33-849C-4FBF-A801-9FA2BCF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24450"/>
            <a:ext cx="590550" cy="742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D6853B"/>
            </a:solidFill>
            <a:prstDash val="solid"/>
          </a:ln>
        </p:spPr>
      </p:sp>
      <p:sp>
        <p:nvSpPr>
          <p:cNvPr id="121" name="methanol-buffer-label">
            <a:extLst xmlns:a="http://schemas.openxmlformats.org/drawingml/2006/main">
              <a:ext uri="{FF2B5EF4-FFF2-40B4-BE49-F238E27FC236}">
                <a16:creationId xmlns:a16="http://schemas.microsoft.com/office/drawing/2014/main" id="{6A4B2EB0-8CEE-4F56-8FED-BD1547D7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354764"/>
            <a:ext cx="533400" cy="282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85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D685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853B"/>
                </a:solidFill>
                <a:latin typeface="Arial"/>
                <a:ea typeface="Arial"/>
                <a:cs typeface="Arial"/>
              </a:rPr>
              <a:t>MeOH</a:t>
            </a:r>
          </a:p>
        </p:txBody>
      </p:sp>
      <p:cxnSp>
        <p:nvCxnSpPr>
          <p:cNvPr id="122" name="methanol-buffer-foot1">
            <a:extLst xmlns:a="http://schemas.openxmlformats.org/drawingml/2006/main">
              <a:ext uri="{FF2B5EF4-FFF2-40B4-BE49-F238E27FC236}">
                <a16:creationId xmlns:a16="http://schemas.microsoft.com/office/drawing/2014/main" id="{6973201F-A29E-4B01-BB51-1164A64575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04960" y="586740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6853B"/>
            </a:solidFill>
            <a:prstDash val="solid"/>
            <a:tailEnd type="none" w="med" len="med"/>
          </a:ln>
        </p:spPr>
      </p:cxnSp>
      <p:cxnSp>
        <p:nvCxnSpPr>
          <p:cNvPr id="123" name="methanol-buffer-foot2">
            <a:extLst xmlns:a="http://schemas.openxmlformats.org/drawingml/2006/main">
              <a:ext uri="{FF2B5EF4-FFF2-40B4-BE49-F238E27FC236}">
                <a16:creationId xmlns:a16="http://schemas.microsoft.com/office/drawing/2014/main" id="{FF3C8476-68E2-42EA-B482-5C63CF0E717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59290" y="586740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6853B"/>
            </a:solidFill>
            <a:prstDash val="solid"/>
            <a:tailEnd type="none" w="med" len="med"/>
          </a:ln>
        </p:spPr>
      </p:cxnSp>
      <p:sp>
        <p:nvSpPr>
          <p:cNvPr id="125" name="MTJ conversion">
            <a:extLst xmlns:a="http://schemas.openxmlformats.org/drawingml/2006/main">
              <a:ext uri="{FF2B5EF4-FFF2-40B4-BE49-F238E27FC236}">
                <a16:creationId xmlns:a16="http://schemas.microsoft.com/office/drawing/2014/main" id="{369B3C55-84A2-433C-90EC-ECA8802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62550"/>
            <a:ext cx="9429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solidFill>
              <a:srgbClr val="317CB0"/>
            </a:solidFill>
            <a:prstDash val="solid"/>
          </a:ln>
        </p:spPr>
      </p:sp>
      <p:sp>
        <p:nvSpPr>
          <p:cNvPr id="126" name="MTJ-text">
            <a:extLst xmlns:a="http://schemas.openxmlformats.org/drawingml/2006/main">
              <a:ext uri="{FF2B5EF4-FFF2-40B4-BE49-F238E27FC236}">
                <a16:creationId xmlns:a16="http://schemas.microsoft.com/office/drawing/2014/main" id="{5796785E-D952-4658-A3E4-FCF89F26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314950"/>
            <a:ext cx="83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MTJ</a:t>
            </a:r>
          </a:p>
        </p:txBody>
      </p:sp>
      <p:cxnSp>
        <p:nvCxnSpPr>
          <p:cNvPr id="127" name="Methanol synthesis to buffer-0">
            <a:extLst xmlns:a="http://schemas.openxmlformats.org/drawingml/2006/main">
              <a:ext uri="{FF2B5EF4-FFF2-40B4-BE49-F238E27FC236}">
                <a16:creationId xmlns:a16="http://schemas.microsoft.com/office/drawing/2014/main" id="{2ACE1A11-CEBA-4457-B007-05038C1CC7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48725" y="55435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36195">
            <a:solidFill>
              <a:srgbClr val="D6853B"/>
            </a:solidFill>
            <a:prstDash val="solid"/>
            <a:tailEnd type="triangle" w="med" len="med"/>
          </a:ln>
        </p:spPr>
      </p:cxnSp>
      <p:cxnSp>
        <p:nvCxnSpPr>
          <p:cNvPr id="128" name="Methanol to MTJ-0">
            <a:extLst xmlns:a="http://schemas.openxmlformats.org/drawingml/2006/main">
              <a:ext uri="{FF2B5EF4-FFF2-40B4-BE49-F238E27FC236}">
                <a16:creationId xmlns:a16="http://schemas.microsoft.com/office/drawing/2014/main" id="{89642ED4-991A-4312-AB0F-7E8D63D61E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77400" y="5543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36195">
            <a:solidFill>
              <a:srgbClr val="D6853B"/>
            </a:solidFill>
            <a:prstDash val="solid"/>
            <a:tailEnd type="triangle" w="med" len="med"/>
          </a:ln>
        </p:spPr>
      </p:cxnSp>
      <p:cxnSp>
        <p:nvCxnSpPr>
          <p:cNvPr id="129" name="MTJ product-0">
            <a:extLst xmlns:a="http://schemas.openxmlformats.org/drawingml/2006/main">
              <a:ext uri="{FF2B5EF4-FFF2-40B4-BE49-F238E27FC236}">
                <a16:creationId xmlns:a16="http://schemas.microsoft.com/office/drawing/2014/main" id="{87CD18F9-3473-41F1-A5D9-2DF2B89B3A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039475" y="55435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triangle" w="med" len="med"/>
          </a:ln>
        </p:spPr>
      </p:cxnSp>
      <p:sp>
        <p:nvSpPr>
          <p:cNvPr id="130" name="MTJ-product-label">
            <a:extLst xmlns:a="http://schemas.openxmlformats.org/drawingml/2006/main">
              <a:ext uri="{FF2B5EF4-FFF2-40B4-BE49-F238E27FC236}">
                <a16:creationId xmlns:a16="http://schemas.microsoft.com/office/drawing/2014/main" id="{92CF381B-9458-43AB-8982-97991B9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67690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317C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317C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7CB0"/>
                </a:solidFill>
                <a:latin typeface="Arial"/>
                <a:ea typeface="Arial"/>
                <a:cs typeface="Arial"/>
              </a:rPr>
              <a:t>SynAF</a:t>
            </a:r>
          </a:p>
        </p:txBody>
      </p:sp>
      <p:cxnSp>
        <p:nvCxnSpPr>
          <p:cNvPr id="132" name="FT product collection-0">
            <a:extLst xmlns:a="http://schemas.openxmlformats.org/drawingml/2006/main">
              <a:ext uri="{FF2B5EF4-FFF2-40B4-BE49-F238E27FC236}">
                <a16:creationId xmlns:a16="http://schemas.microsoft.com/office/drawing/2014/main" id="{7F484449-0F97-4624-B99B-345E319334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334750" y="2952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33" name="FT product collection-1">
            <a:extLst xmlns:a="http://schemas.openxmlformats.org/drawingml/2006/main">
              <a:ext uri="{FF2B5EF4-FFF2-40B4-BE49-F238E27FC236}">
                <a16:creationId xmlns:a16="http://schemas.microsoft.com/office/drawing/2014/main" id="{6056AABB-E66D-45DF-8CAB-14F025B3D5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0" y="295275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34" name="MTJ product collection-0">
            <a:extLst xmlns:a="http://schemas.openxmlformats.org/drawingml/2006/main">
              <a:ext uri="{FF2B5EF4-FFF2-40B4-BE49-F238E27FC236}">
                <a16:creationId xmlns:a16="http://schemas.microsoft.com/office/drawing/2014/main" id="{8D1F8FB1-05E2-4B1B-97EA-61DDC9347C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334750" y="55435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35" name="MTJ product collection-1">
            <a:extLst xmlns:a="http://schemas.openxmlformats.org/drawingml/2006/main">
              <a:ext uri="{FF2B5EF4-FFF2-40B4-BE49-F238E27FC236}">
                <a16:creationId xmlns:a16="http://schemas.microsoft.com/office/drawing/2014/main" id="{0FBC5374-1EEE-444C-B837-6FEA65B77EC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715750" y="4267200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none" w="med" len="med"/>
          </a:ln>
        </p:spPr>
      </p:cxnSp>
      <p:sp>
        <p:nvSpPr>
          <p:cNvPr id="136" name="Fuel collection junction">
            <a:extLst xmlns:a="http://schemas.openxmlformats.org/drawingml/2006/main">
              <a:ext uri="{FF2B5EF4-FFF2-40B4-BE49-F238E27FC236}">
                <a16:creationId xmlns:a16="http://schemas.microsoft.com/office/drawing/2014/main" id="{232D7DC4-8CE8-43B0-967A-F92034D6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363" y="421481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7CB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7" name="SAF to distribution-0">
            <a:extLst xmlns:a="http://schemas.openxmlformats.org/drawingml/2006/main">
              <a:ext uri="{FF2B5EF4-FFF2-40B4-BE49-F238E27FC236}">
                <a16:creationId xmlns:a16="http://schemas.microsoft.com/office/drawing/2014/main" id="{3F4FA8C2-B105-420A-8EC0-FE72BA07A7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0" y="4267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triangle" w="med" len="med"/>
          </a:ln>
        </p:spPr>
      </p:cxnSp>
      <p:sp>
        <p:nvSpPr>
          <p:cNvPr id="138" name="SAF distribution module">
            <a:extLst xmlns:a="http://schemas.openxmlformats.org/drawingml/2006/main">
              <a:ext uri="{FF2B5EF4-FFF2-40B4-BE49-F238E27FC236}">
                <a16:creationId xmlns:a16="http://schemas.microsoft.com/office/drawing/2014/main" id="{E78EAE12-FBBF-406D-B465-F510BDEE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381250"/>
            <a:ext cx="2000250" cy="3524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SAF-buffer-tank">
            <a:extLst xmlns:a="http://schemas.openxmlformats.org/drawingml/2006/main">
              <a:ext uri="{FF2B5EF4-FFF2-40B4-BE49-F238E27FC236}">
                <a16:creationId xmlns:a16="http://schemas.microsoft.com/office/drawing/2014/main" id="{27A98F71-89D8-4049-9D77-67EA32CA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676525"/>
            <a:ext cx="704850" cy="7334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317CB0"/>
            </a:solidFill>
            <a:prstDash val="dash"/>
          </a:ln>
        </p:spPr>
      </p:sp>
      <p:sp>
        <p:nvSpPr>
          <p:cNvPr id="140" name="SAF-buffer-label">
            <a:extLst xmlns:a="http://schemas.openxmlformats.org/drawingml/2006/main">
              <a:ext uri="{FF2B5EF4-FFF2-40B4-BE49-F238E27FC236}">
                <a16:creationId xmlns:a16="http://schemas.microsoft.com/office/drawing/2014/main" id="{33E7249B-9090-4373-A365-2849A0B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903887"/>
            <a:ext cx="952500" cy="278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317C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317CB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7CB0"/>
                </a:solidFill>
                <a:latin typeface="Arial"/>
                <a:ea typeface="Arial"/>
                <a:cs typeface="Arial"/>
              </a:rPr>
              <a:t>SynAF</a:t>
            </a:r>
          </a:p>
        </p:txBody>
      </p:sp>
      <p:cxnSp>
        <p:nvCxnSpPr>
          <p:cNvPr id="141" name="SAF-buffer-foot1">
            <a:extLst xmlns:a="http://schemas.openxmlformats.org/drawingml/2006/main">
              <a:ext uri="{FF2B5EF4-FFF2-40B4-BE49-F238E27FC236}">
                <a16:creationId xmlns:a16="http://schemas.microsoft.com/office/drawing/2014/main" id="{3D3062BE-F0B9-4B75-9189-8504229B0C7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71145" y="340995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317CB0"/>
            </a:solidFill>
            <a:prstDash val="solid"/>
            <a:tailEnd type="none" w="med" len="med"/>
          </a:ln>
        </p:spPr>
      </p:cxnSp>
      <p:cxnSp>
        <p:nvCxnSpPr>
          <p:cNvPr id="142" name="SAF-buffer-foot2">
            <a:extLst xmlns:a="http://schemas.openxmlformats.org/drawingml/2006/main">
              <a:ext uri="{FF2B5EF4-FFF2-40B4-BE49-F238E27FC236}">
                <a16:creationId xmlns:a16="http://schemas.microsoft.com/office/drawing/2014/main" id="{41B4AB24-9262-491C-9273-B6F56C6655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94055" y="3409950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317CB0"/>
            </a:solidFill>
            <a:prstDash val="solid"/>
            <a:tailEnd type="none" w="med" len="med"/>
          </a:ln>
        </p:spPr>
      </p:cxnSp>
      <p:sp>
        <p:nvSpPr>
          <p:cNvPr id="143" name="SAF-buffer-label">
            <a:extLst xmlns:a="http://schemas.openxmlformats.org/drawingml/2006/main">
              <a:ext uri="{FF2B5EF4-FFF2-40B4-BE49-F238E27FC236}">
                <a16:creationId xmlns:a16="http://schemas.microsoft.com/office/drawing/2014/main" id="{29F593D4-C4BB-44FC-9AC7-763BBB32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8140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SynAF</a:t>
            </a:r>
            <a:r>
              <a:rPr sz="202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 buffer</a:t>
            </a:r>
          </a:p>
        </p:txBody>
      </p:sp>
      <p:sp>
        <p:nvSpPr>
          <p:cNvPr id="144" name="SAF-road-transport-body">
            <a:extLst xmlns:a="http://schemas.openxmlformats.org/drawingml/2006/main">
              <a:ext uri="{FF2B5EF4-FFF2-40B4-BE49-F238E27FC236}">
                <a16:creationId xmlns:a16="http://schemas.microsoft.com/office/drawing/2014/main" id="{59864382-9D12-4C31-B046-6335E6D5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133850"/>
            <a:ext cx="7429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317CB0"/>
            </a:solidFill>
            <a:prstDash val="solid"/>
          </a:ln>
        </p:spPr>
      </p:sp>
      <p:sp>
        <p:nvSpPr>
          <p:cNvPr id="145" name="SAF-road-transport-cab">
            <a:extLst xmlns:a="http://schemas.openxmlformats.org/drawingml/2006/main">
              <a:ext uri="{FF2B5EF4-FFF2-40B4-BE49-F238E27FC236}">
                <a16:creationId xmlns:a16="http://schemas.microsoft.com/office/drawing/2014/main" id="{F3B54115-F911-4518-9173-EC96028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229100"/>
            <a:ext cx="295275" cy="257175"/>
          </a:xfrm>
          <a:custGeom xmlns:a="http://schemas.openxmlformats.org/drawingml/2006/main">
            <a:pathLst>
              <a:path w="295275" h="257175">
                <a:moveTo>
                  <a:pt x="0" y="0"/>
                </a:moveTo>
                <a:lnTo>
                  <a:pt x="190500" y="0"/>
                </a:lnTo>
                <a:lnTo>
                  <a:pt x="295275" y="123825"/>
                </a:lnTo>
                <a:lnTo>
                  <a:pt x="295275" y="257175"/>
                </a:lnTo>
                <a:lnTo>
                  <a:pt x="0" y="2571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317CB0"/>
            </a:solidFill>
            <a:prstDash val="solid"/>
          </a:ln>
        </p:spPr>
      </p:sp>
      <p:sp>
        <p:nvSpPr>
          <p:cNvPr id="146" name="SAF-road-transport-window">
            <a:extLst xmlns:a="http://schemas.openxmlformats.org/drawingml/2006/main">
              <a:ext uri="{FF2B5EF4-FFF2-40B4-BE49-F238E27FC236}">
                <a16:creationId xmlns:a16="http://schemas.microsoft.com/office/drawing/2014/main" id="{5DB38E22-A85E-41A8-9B6C-BE9373F2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4276725"/>
            <a:ext cx="1333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317CB0"/>
            </a:solidFill>
            <a:prstDash val="solid"/>
          </a:ln>
        </p:spPr>
      </p:sp>
      <p:sp>
        <p:nvSpPr>
          <p:cNvPr id="147" name="SAF-road-transport-wheel-0">
            <a:extLst xmlns:a="http://schemas.openxmlformats.org/drawingml/2006/main">
              <a:ext uri="{FF2B5EF4-FFF2-40B4-BE49-F238E27FC236}">
                <a16:creationId xmlns:a16="http://schemas.microsoft.com/office/drawing/2014/main" id="{8B9EA0B4-5BF9-45D0-ADB8-72BFF409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410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317CB0"/>
            </a:solidFill>
            <a:prstDash val="solid"/>
          </a:ln>
        </p:spPr>
      </p:sp>
      <p:sp>
        <p:nvSpPr>
          <p:cNvPr id="148" name="SAF-road-transport-wheel-1">
            <a:extLst xmlns:a="http://schemas.openxmlformats.org/drawingml/2006/main">
              <a:ext uri="{FF2B5EF4-FFF2-40B4-BE49-F238E27FC236}">
                <a16:creationId xmlns:a16="http://schemas.microsoft.com/office/drawing/2014/main" id="{E01059BC-2A02-47D7-8FDB-8A04F1C2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4410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317CB0"/>
            </a:solidFill>
            <a:prstDash val="solid"/>
          </a:ln>
        </p:spPr>
      </p:sp>
      <p:sp>
        <p:nvSpPr>
          <p:cNvPr id="149" name="fuel-delivery-label">
            <a:extLst xmlns:a="http://schemas.openxmlformats.org/drawingml/2006/main">
              <a:ext uri="{FF2B5EF4-FFF2-40B4-BE49-F238E27FC236}">
                <a16:creationId xmlns:a16="http://schemas.microsoft.com/office/drawing/2014/main" id="{770ED039-ECF6-4B3E-89B6-B29F769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7625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Road delivery</a:t>
            </a:r>
          </a:p>
        </p:txBody>
      </p:sp>
      <p:cxnSp>
        <p:nvCxnSpPr>
          <p:cNvPr id="151" name="SAF to airport-0">
            <a:extLst xmlns:a="http://schemas.openxmlformats.org/drawingml/2006/main">
              <a:ext uri="{FF2B5EF4-FFF2-40B4-BE49-F238E27FC236}">
                <a16:creationId xmlns:a16="http://schemas.microsoft.com/office/drawing/2014/main" id="{1DFF1CC0-F922-417D-8A7E-122870A39FC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192250" y="42672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40005">
            <a:solidFill>
              <a:srgbClr val="317CB0"/>
            </a:solidFill>
            <a:prstDash val="solid"/>
            <a:tailEnd type="triangle" w="med" len="med"/>
          </a:ln>
        </p:spPr>
      </p:cxnSp>
      <p:sp>
        <p:nvSpPr>
          <p:cNvPr id="152" name="airport-roof">
            <a:extLst xmlns:a="http://schemas.openxmlformats.org/drawingml/2006/main">
              <a:ext uri="{FF2B5EF4-FFF2-40B4-BE49-F238E27FC236}">
                <a16:creationId xmlns:a16="http://schemas.microsoft.com/office/drawing/2014/main" id="{1AEFFC3D-2246-4E0B-A668-CD79D9A9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2781300"/>
            <a:ext cx="1352550" cy="666750"/>
          </a:xfrm>
          <a:custGeom xmlns:a="http://schemas.openxmlformats.org/drawingml/2006/main">
            <a:pathLst>
              <a:path w="1352550" h="666750">
                <a:moveTo>
                  <a:pt x="0" y="228600"/>
                </a:moveTo>
                <a:lnTo>
                  <a:pt x="304800" y="66675"/>
                </a:lnTo>
                <a:lnTo>
                  <a:pt x="676275" y="0"/>
                </a:lnTo>
                <a:lnTo>
                  <a:pt x="1047750" y="66675"/>
                </a:lnTo>
                <a:lnTo>
                  <a:pt x="1352550" y="228600"/>
                </a:lnTo>
                <a:lnTo>
                  <a:pt x="1352550" y="65722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317CB0"/>
            </a:solidFill>
            <a:prstDash val="solid"/>
          </a:ln>
        </p:spPr>
      </p:sp>
      <p:sp>
        <p:nvSpPr>
          <p:cNvPr id="153" name="airport-window-0">
            <a:extLst xmlns:a="http://schemas.openxmlformats.org/drawingml/2006/main">
              <a:ext uri="{FF2B5EF4-FFF2-40B4-BE49-F238E27FC236}">
                <a16:creationId xmlns:a16="http://schemas.microsoft.com/office/drawing/2014/main" id="{A2F9A8FA-649F-4264-9F11-1B1FEFC7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6675" y="3076575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317CB0"/>
            </a:solidFill>
            <a:prstDash val="solid"/>
          </a:ln>
        </p:spPr>
      </p:sp>
      <p:sp>
        <p:nvSpPr>
          <p:cNvPr id="154" name="airport-window-1">
            <a:extLst xmlns:a="http://schemas.openxmlformats.org/drawingml/2006/main">
              <a:ext uri="{FF2B5EF4-FFF2-40B4-BE49-F238E27FC236}">
                <a16:creationId xmlns:a16="http://schemas.microsoft.com/office/drawing/2014/main" id="{6779DD73-B49E-4DAB-9654-6038755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3076575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317CB0"/>
            </a:solidFill>
            <a:prstDash val="solid"/>
          </a:ln>
        </p:spPr>
      </p:sp>
      <p:sp>
        <p:nvSpPr>
          <p:cNvPr id="155" name="airport-window-2">
            <a:extLst xmlns:a="http://schemas.openxmlformats.org/drawingml/2006/main">
              <a:ext uri="{FF2B5EF4-FFF2-40B4-BE49-F238E27FC236}">
                <a16:creationId xmlns:a16="http://schemas.microsoft.com/office/drawing/2014/main" id="{57F83360-428F-4D7E-BC14-56BE8A82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8175" y="3076575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317CB0"/>
            </a:solidFill>
            <a:prstDash val="solid"/>
          </a:ln>
        </p:spPr>
      </p:sp>
      <p:sp>
        <p:nvSpPr>
          <p:cNvPr id="156" name="airport-window-3">
            <a:extLst xmlns:a="http://schemas.openxmlformats.org/drawingml/2006/main">
              <a:ext uri="{FF2B5EF4-FFF2-40B4-BE49-F238E27FC236}">
                <a16:creationId xmlns:a16="http://schemas.microsoft.com/office/drawing/2014/main" id="{42759134-0FFC-4437-8D6F-9CE83C7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3925" y="3076575"/>
            <a:ext cx="22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7145">
            <a:solidFill>
              <a:srgbClr val="317CB0"/>
            </a:solidFill>
            <a:prstDash val="solid"/>
          </a:ln>
        </p:spPr>
      </p:sp>
      <p:cxnSp>
        <p:nvCxnSpPr>
          <p:cNvPr id="157" name="airport-tower">
            <a:extLst xmlns:a="http://schemas.openxmlformats.org/drawingml/2006/main">
              <a:ext uri="{FF2B5EF4-FFF2-40B4-BE49-F238E27FC236}">
                <a16:creationId xmlns:a16="http://schemas.microsoft.com/office/drawing/2014/main" id="{56B437F3-09FE-4D13-8413-05E3C87D5E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859125" y="2524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7CB0"/>
            </a:solidFill>
            <a:prstDash val="solid"/>
            <a:tailEnd type="none" w="med" len="med"/>
          </a:ln>
        </p:spPr>
      </p:cxnSp>
      <p:sp>
        <p:nvSpPr>
          <p:cNvPr id="158" name="airport-control">
            <a:extLst xmlns:a="http://schemas.openxmlformats.org/drawingml/2006/main">
              <a:ext uri="{FF2B5EF4-FFF2-40B4-BE49-F238E27FC236}">
                <a16:creationId xmlns:a16="http://schemas.microsoft.com/office/drawing/2014/main" id="{7BD5F9D7-1E23-4ADF-A4C5-72799A9D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466975"/>
            <a:ext cx="304800" cy="190500"/>
          </a:xfrm>
          <a:custGeom xmlns:a="http://schemas.openxmlformats.org/drawingml/2006/main">
            <a:pathLst>
              <a:path w="304800" h="190500">
                <a:moveTo>
                  <a:pt x="0" y="0"/>
                </a:moveTo>
                <a:lnTo>
                  <a:pt x="304800" y="0"/>
                </a:lnTo>
                <a:lnTo>
                  <a:pt x="247650" y="190500"/>
                </a:lnTo>
                <a:lnTo>
                  <a:pt x="57150" y="190500"/>
                </a:lnTo>
                <a:close/>
              </a:path>
            </a:pathLst>
          </a:custGeom>
          <a:solidFill xmlns:a="http://schemas.openxmlformats.org/drawingml/2006/main">
            <a:srgbClr val="EDF5FA"/>
          </a:solidFill>
          <a:ln xmlns:a="http://schemas.openxmlformats.org/drawingml/2006/main" w="20955">
            <a:solidFill>
              <a:srgbClr val="317CB0"/>
            </a:solidFill>
            <a:prstDash val="solid"/>
          </a:ln>
        </p:spPr>
      </p:sp>
      <p:sp>
        <p:nvSpPr>
          <p:cNvPr id="159" name="airport-plane">
            <a:extLst xmlns:a="http://schemas.openxmlformats.org/drawingml/2006/main">
              <a:ext uri="{FF2B5EF4-FFF2-40B4-BE49-F238E27FC236}">
                <a16:creationId xmlns:a16="http://schemas.microsoft.com/office/drawing/2014/main" id="{3EDA1404-9845-4620-970B-1562B56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038350"/>
            <a:ext cx="1095375" cy="323850"/>
          </a:xfrm>
          <a:custGeom xmlns:a="http://schemas.openxmlformats.org/drawingml/2006/main">
            <a:pathLst>
              <a:path w="1095375" h="323850">
                <a:moveTo>
                  <a:pt x="0" y="161925"/>
                </a:moveTo>
                <a:lnTo>
                  <a:pt x="361950" y="123825"/>
                </a:lnTo>
                <a:lnTo>
                  <a:pt x="466725" y="0"/>
                </a:lnTo>
                <a:lnTo>
                  <a:pt x="542925" y="0"/>
                </a:lnTo>
                <a:lnTo>
                  <a:pt x="514350" y="133350"/>
                </a:lnTo>
                <a:lnTo>
                  <a:pt x="904875" y="152400"/>
                </a:lnTo>
                <a:lnTo>
                  <a:pt x="1057275" y="114300"/>
                </a:lnTo>
                <a:lnTo>
                  <a:pt x="1085850" y="161925"/>
                </a:lnTo>
                <a:lnTo>
                  <a:pt x="971550" y="200025"/>
                </a:lnTo>
                <a:lnTo>
                  <a:pt x="504825" y="219075"/>
                </a:lnTo>
                <a:lnTo>
                  <a:pt x="542925" y="323850"/>
                </a:lnTo>
                <a:lnTo>
                  <a:pt x="466725" y="323850"/>
                </a:lnTo>
                <a:lnTo>
                  <a:pt x="361950" y="219075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003">
            <a:solidFill>
              <a:srgbClr val="317CB0"/>
            </a:solidFill>
            <a:prstDash val="solid"/>
          </a:ln>
        </p:spPr>
      </p:sp>
      <p:sp>
        <p:nvSpPr>
          <p:cNvPr id="160" name="airport-terminal">
            <a:extLst xmlns:a="http://schemas.openxmlformats.org/drawingml/2006/main">
              <a:ext uri="{FF2B5EF4-FFF2-40B4-BE49-F238E27FC236}">
                <a16:creationId xmlns:a16="http://schemas.microsoft.com/office/drawing/2014/main" id="{172C1E29-8F9E-4BAE-B7DE-35319D6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7147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Airport terminal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444"/>
                </a:solidFill>
                <a:latin typeface="Arial"/>
                <a:ea typeface="Arial"/>
                <a:cs typeface="Arial"/>
              </a:rPr>
              <a:t>and fuel farm</a:t>
            </a:r>
          </a:p>
        </p:txBody>
      </p:sp>
      <p:cxnSp>
        <p:nvCxnSpPr>
          <p:cNvPr id="164" name="Carbon flow-legend">
            <a:extLst xmlns:a="http://schemas.openxmlformats.org/drawingml/2006/main">
              <a:ext uri="{FF2B5EF4-FFF2-40B4-BE49-F238E27FC236}">
                <a16:creationId xmlns:a16="http://schemas.microsoft.com/office/drawing/2014/main" id="{18EFA862-E750-4448-A15A-1548FA8DC7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" y="7991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37D82"/>
            </a:solidFill>
            <a:prstDash val="solid"/>
            <a:tailEnd type="triangle" w="med" len="med"/>
          </a:ln>
        </p:spPr>
      </p:cxnSp>
      <p:sp>
        <p:nvSpPr>
          <p:cNvPr id="165" name="Carbon flow-legend-text">
            <a:extLst xmlns:a="http://schemas.openxmlformats.org/drawingml/2006/main">
              <a:ext uri="{FF2B5EF4-FFF2-40B4-BE49-F238E27FC236}">
                <a16:creationId xmlns:a16="http://schemas.microsoft.com/office/drawing/2014/main" id="{15146875-C4EE-4764-8969-56A1D40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791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Carbon</a:t>
            </a:r>
          </a:p>
        </p:txBody>
      </p:sp>
      <p:cxnSp>
        <p:nvCxnSpPr>
          <p:cNvPr id="166" name="Hydrogen flow-legend">
            <a:extLst xmlns:a="http://schemas.openxmlformats.org/drawingml/2006/main">
              <a:ext uri="{FF2B5EF4-FFF2-40B4-BE49-F238E27FC236}">
                <a16:creationId xmlns:a16="http://schemas.microsoft.com/office/drawing/2014/main" id="{E1A0FDEF-8E1B-4281-BA9A-009862EAD2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2350" y="7991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39244"/>
            </a:solidFill>
            <a:prstDash val="solid"/>
            <a:tailEnd type="triangle" w="med" len="med"/>
          </a:ln>
        </p:spPr>
      </p:cxnSp>
      <p:sp>
        <p:nvSpPr>
          <p:cNvPr id="167" name="Hydrogen flow-legend-text">
            <a:extLst xmlns:a="http://schemas.openxmlformats.org/drawingml/2006/main">
              <a:ext uri="{FF2B5EF4-FFF2-40B4-BE49-F238E27FC236}">
                <a16:creationId xmlns:a16="http://schemas.microsoft.com/office/drawing/2014/main" id="{81D2A475-A211-4CF9-910C-3116E2C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791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Hydrogen</a:t>
            </a:r>
          </a:p>
        </p:txBody>
      </p:sp>
      <p:cxnSp>
        <p:nvCxnSpPr>
          <p:cNvPr id="168" name="Methanol intermediate-legend">
            <a:extLst xmlns:a="http://schemas.openxmlformats.org/drawingml/2006/main">
              <a:ext uri="{FF2B5EF4-FFF2-40B4-BE49-F238E27FC236}">
                <a16:creationId xmlns:a16="http://schemas.microsoft.com/office/drawing/2014/main" id="{33D19474-693E-46C6-BDDD-1AD5A80915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48475" y="7991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853B"/>
            </a:solidFill>
            <a:prstDash val="solid"/>
            <a:tailEnd type="triangle" w="med" len="med"/>
          </a:ln>
        </p:spPr>
      </p:cxnSp>
      <p:sp>
        <p:nvSpPr>
          <p:cNvPr id="169" name="Methanol intermediate-legend-text">
            <a:extLst xmlns:a="http://schemas.openxmlformats.org/drawingml/2006/main">
              <a:ext uri="{FF2B5EF4-FFF2-40B4-BE49-F238E27FC236}">
                <a16:creationId xmlns:a16="http://schemas.microsoft.com/office/drawing/2014/main" id="{09DA39F6-F43B-435B-881A-3F2F63ED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7791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Methanol</a:t>
            </a:r>
          </a:p>
        </p:txBody>
      </p:sp>
      <p:cxnSp>
        <p:nvCxnSpPr>
          <p:cNvPr id="170" name="SAF product-legend">
            <a:extLst xmlns:a="http://schemas.openxmlformats.org/drawingml/2006/main">
              <a:ext uri="{FF2B5EF4-FFF2-40B4-BE49-F238E27FC236}">
                <a16:creationId xmlns:a16="http://schemas.microsoft.com/office/drawing/2014/main" id="{4984D834-0FF8-4CEC-8C1E-B99373FC03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72700" y="7991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7CB0"/>
            </a:solidFill>
            <a:prstDash val="solid"/>
            <a:tailEnd type="triangle" w="med" len="med"/>
          </a:ln>
        </p:spPr>
      </p:cxnSp>
      <p:sp>
        <p:nvSpPr>
          <p:cNvPr id="171" name="SAF product-legend-text">
            <a:extLst xmlns:a="http://schemas.openxmlformats.org/drawingml/2006/main">
              <a:ext uri="{FF2B5EF4-FFF2-40B4-BE49-F238E27FC236}">
                <a16:creationId xmlns:a16="http://schemas.microsoft.com/office/drawing/2014/main" id="{B8DFCBDA-5F80-4000-8D7C-6933EFE1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791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44"/>
                </a:solidFill>
                <a:latin typeface="Arial"/>
                <a:ea typeface="Arial"/>
                <a:cs typeface="Arial"/>
              </a:rPr>
              <a:t>SynAF</a:t>
            </a:r>
          </a:p>
        </p:txBody>
      </p:sp>
      <p:sp>
        <p:nvSpPr>
          <p:cNvPr id="172" name="optional-storage-key">
            <a:extLst xmlns:a="http://schemas.openxmlformats.org/drawingml/2006/main">
              <a:ext uri="{FF2B5EF4-FFF2-40B4-BE49-F238E27FC236}">
                <a16:creationId xmlns:a16="http://schemas.microsoft.com/office/drawing/2014/main" id="{CB422C84-DF08-4C3D-A75D-4039360D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7810500"/>
            <a:ext cx="342900" cy="3333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737D82"/>
            </a:solidFill>
            <a:prstDash val="dash"/>
          </a:ln>
        </p:spPr>
      </p:sp>
      <p:sp>
        <p:nvSpPr>
          <p:cNvPr id="173" name="optional-storage-key-label">
            <a:extLst xmlns:a="http://schemas.openxmlformats.org/drawingml/2006/main">
              <a:ext uri="{FF2B5EF4-FFF2-40B4-BE49-F238E27FC236}">
                <a16:creationId xmlns:a16="http://schemas.microsoft.com/office/drawing/2014/main" id="{211290E1-9028-4392-9451-A4023BF6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77914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>
                <a:solidFill>
                  <a:srgbClr val="203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20344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3444"/>
                </a:solidFill>
                <a:latin typeface="Arial"/>
                <a:ea typeface="Arial"/>
                <a:cs typeface="Arial"/>
              </a:rPr>
              <a:t>Optional storage</a:t>
            </a:r>
          </a:p>
        </p:txBody>
      </p:sp>
    </p:spTree>
    <p:extLst>
      <p:ext uri="{BB962C8B-B14F-4D97-AF65-F5344CB8AC3E}">
        <p14:creationId xmlns:p14="http://schemas.microsoft.com/office/powerpoint/2010/main" val="1960503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2026-10-17T09:40:40.1490000Z</dcterms:created>
  <dcterms:modified xsi:type="dcterms:W3CDTF">2026-10-17T09:40:40.1490000Z</dcterms:modified>
</coreProperties>
</file>